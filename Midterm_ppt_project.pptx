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7132320" cy="32004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2CC2B2"/>
                </a:solidFill>
                <a:latin typeface="Aptos"/>
              </a:defRPr>
            </a:pPr>
            <a:r>
              <a:t>PROJECT MIDTERM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315200" cy="155448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F7F9FC"/>
                </a:solidFill>
                <a:latin typeface="Aptos"/>
              </a:defRPr>
            </a:pPr>
            <a:r>
              <a:t>Adaptive Curriculum Learning</a:t>
            </a:r>
          </a:p>
          <a:p>
            <a:pPr>
              <a:spcAft>
                <a:spcPts val="500"/>
              </a:spcAft>
              <a:defRPr sz="2900" b="1">
                <a:solidFill>
                  <a:srgbClr val="F7F9FC"/>
                </a:solidFill>
                <a:latin typeface="Aptos"/>
              </a:defRPr>
            </a:pPr>
            <a:r>
              <a:t>for Autonomous Reinforcement Learning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3246120"/>
            <a:ext cx="7132320" cy="59436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70D2E1"/>
                </a:solidFill>
                <a:latin typeface="Aptos"/>
              </a:defRPr>
            </a:pPr>
            <a:r>
              <a:t>MiniGrid MultiRoom  •  PPO  •  Performance-driven difficulty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4160520"/>
            <a:ext cx="6949440" cy="68580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E1E9F4"/>
                </a:solidFill>
                <a:latin typeface="Aptos"/>
              </a:defRPr>
            </a:pPr>
            <a:r>
              <a:t>Project focus: helping an RL agent learn navigation progressively, then testing whether adapting difficulty to its performance is beneficial.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5303520"/>
            <a:ext cx="6217920" cy="59436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A4B4CA"/>
                </a:solidFill>
                <a:latin typeface="Aptos"/>
              </a:defRPr>
            </a:pPr>
            <a:r>
              <a:t>Bhavana Raavi  |  BID: B00123226</a:t>
            </a:r>
          </a:p>
          <a:p>
            <a:pPr>
              <a:spcAft>
                <a:spcPts val="500"/>
              </a:spcAft>
              <a:defRPr sz="1300" b="0">
                <a:solidFill>
                  <a:srgbClr val="A4B4CA"/>
                </a:solidFill>
                <a:latin typeface="Aptos"/>
              </a:defRPr>
            </a:pPr>
            <a:r>
              <a:t>Data Science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6144768"/>
            <a:ext cx="6400800" cy="18288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Current progress, system design, and next implementation steps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188720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66760" y="1581912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66760" y="1975104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66760" y="2368296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59952" y="1188720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1581912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59952" y="1975104"/>
            <a:ext cx="310896" cy="310896"/>
          </a:xfrm>
          <a:prstGeom prst="rect">
            <a:avLst/>
          </a:prstGeom>
          <a:solidFill>
            <a:srgbClr val="2CC2B2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59952" y="2368296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53144" y="1188720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53144" y="1581912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53144" y="1975104"/>
            <a:ext cx="310896" cy="310896"/>
          </a:xfrm>
          <a:prstGeom prst="rect">
            <a:avLst/>
          </a:prstGeom>
          <a:solidFill>
            <a:srgbClr val="2CC2B2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3144" y="2368296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546336" y="1188720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46336" y="1581912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46336" y="1975104"/>
            <a:ext cx="310896" cy="310896"/>
          </a:xfrm>
          <a:prstGeom prst="rect">
            <a:avLst/>
          </a:prstGeom>
          <a:solidFill>
            <a:srgbClr val="2CC2B2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46336" y="2368296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39528" y="1188720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939528" y="1581912"/>
            <a:ext cx="310896" cy="310896"/>
          </a:xfrm>
          <a:prstGeom prst="rect">
            <a:avLst/>
          </a:prstGeom>
          <a:solidFill>
            <a:srgbClr val="2CC2B2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39528" y="1975104"/>
            <a:ext cx="310896" cy="310896"/>
          </a:xfrm>
          <a:prstGeom prst="rect">
            <a:avLst/>
          </a:prstGeom>
          <a:solidFill>
            <a:srgbClr val="2CC2B2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39528" y="2368296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332720" y="1188720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32720" y="1581912"/>
            <a:ext cx="310896" cy="310896"/>
          </a:xfrm>
          <a:prstGeom prst="rect">
            <a:avLst/>
          </a:prstGeom>
          <a:solidFill>
            <a:srgbClr val="2CC2B2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32720" y="1975104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332720" y="2368296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725912" y="1188720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725912" y="1581912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725912" y="1975104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725912" y="2368296"/>
            <a:ext cx="310896" cy="310896"/>
          </a:xfrm>
          <a:prstGeom prst="rect">
            <a:avLst/>
          </a:prstGeom>
          <a:solidFill>
            <a:srgbClr val="192745"/>
          </a:solidFill>
          <a:ln>
            <a:solidFill>
              <a:srgbClr val="4152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7F9FC"/>
                </a:solidFill>
                <a:latin typeface="Aptos"/>
              </a:defRPr>
            </a:pPr>
            <a:r>
              <a:t>1.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777240" cy="50292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08760" y="804672"/>
            <a:ext cx="9875520" cy="2743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Problem, idea, and 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4572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92240"/>
            <a:ext cx="82296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Adaptive Curriculum Learning • MiniGrid MultiRoom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3474720" cy="23317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64008" cy="2331720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453895"/>
            <a:ext cx="310896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CC2B2"/>
                </a:solidFill>
                <a:latin typeface="Aptos"/>
              </a:defRPr>
            </a:pPr>
            <a:r>
              <a:t>THE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856231"/>
            <a:ext cx="3108960" cy="170992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In reinforcement learning, an agent may struggle when it is trained immediately on a complex task. It may receive few successful experiences, making it difficult to learn useful behavior.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A gradual training strategy may help the agent build basic skills before facing harder layouts.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325880"/>
            <a:ext cx="3474720" cy="23317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25880"/>
            <a:ext cx="64008" cy="2331720"/>
          </a:xfrm>
          <a:prstGeom prst="rect">
            <a:avLst/>
          </a:prstGeom>
          <a:solidFill>
            <a:srgbClr val="70D2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453895"/>
            <a:ext cx="310896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0D2E1"/>
                </a:solidFill>
                <a:latin typeface="Aptos"/>
              </a:defRPr>
            </a:pPr>
            <a:r>
              <a:t>OUR IDEA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856231"/>
            <a:ext cx="3108960" cy="170992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Use MiniGrid MultiRoom as a navigation environment and train a PPO agent on tasks of increasing difficulty.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A proposed Curriculum Manager will monitor performance and decide whether the agent should stay at its current level or move to a harder level.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325880"/>
            <a:ext cx="3474720" cy="23317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64008" cy="2331720"/>
          </a:xfrm>
          <a:prstGeom prst="rect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1453895"/>
            <a:ext cx="310896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FB25C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1856231"/>
            <a:ext cx="3108960" cy="170992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Does an adaptive curriculum help the agent learn navigation more efficiently than training directly on a hard task or following a fixed schedule?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We will answer this by implementing the manager and comparing measurable results.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CC2B2"/>
                </a:solidFill>
                <a:latin typeface="Aptos"/>
              </a:defRPr>
            </a:pPr>
            <a:r>
              <a:t>Core idea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526280"/>
            <a:ext cx="10515600" cy="77724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F7F9FC"/>
                </a:solidFill>
                <a:latin typeface="Aptos"/>
              </a:defRPr>
            </a:pPr>
            <a:r>
              <a:t>Start with manageable tasks → measure learning progress → increase difficulty when performance indicates readiness.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623560"/>
            <a:ext cx="10424160" cy="5029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A4B4CA"/>
                </a:solidFill>
                <a:latin typeface="Aptos"/>
              </a:defRPr>
            </a:pPr>
            <a:r>
              <a:t>MiniGrid and PPO are existing tools. The performance-driven Curriculum Manager and its evaluation are the proposed contribution.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7F9FC"/>
                </a:solidFill>
                <a:latin typeface="Aptos"/>
              </a:defRPr>
            </a:pPr>
            <a:r>
              <a:t>2. Environment, agent, and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777240" cy="50292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08760" y="804672"/>
            <a:ext cx="9875520" cy="2743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What the system observes and how it interacts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4572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92240"/>
            <a:ext cx="82296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Adaptive Curriculum Learning • MiniGrid MultiRoom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3520440" cy="205740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64008" cy="2057400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362456"/>
            <a:ext cx="315468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CC2B2"/>
                </a:solidFill>
                <a:latin typeface="Aptos"/>
              </a:defRPr>
            </a:pPr>
            <a:r>
              <a:t>MINIGRID MULTIROOM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764792"/>
            <a:ext cx="3154680" cy="143560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A procedurally generated grid environment with connected rooms, walls, a starting position, and a goal.</a:t>
            </a: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The layout can vary across resets. Room count and room-size settings can be configured to create different task difficulties.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234440"/>
            <a:ext cx="3520440" cy="205740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64008" cy="2057400"/>
          </a:xfrm>
          <a:prstGeom prst="rect">
            <a:avLst/>
          </a:prstGeom>
          <a:solidFill>
            <a:srgbClr val="70D2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1362456"/>
            <a:ext cx="315468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0D2E1"/>
                </a:solidFill>
                <a:latin typeface="Aptos"/>
              </a:defRPr>
            </a:pPr>
            <a:r>
              <a:t>PPO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1764792"/>
            <a:ext cx="3154680" cy="143560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Proximal Policy Optimization (PPO) is the reinforcement-learning algorithm selected for this project.</a:t>
            </a: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It learns a policy from experience: observations, chosen actions, rewards, and the next observations. The current initial run has not yet learned reliable navigation.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234440"/>
            <a:ext cx="3520440" cy="205740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234440"/>
            <a:ext cx="64008" cy="2057400"/>
          </a:xfrm>
          <a:prstGeom prst="rect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2168" y="1362456"/>
            <a:ext cx="315468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FB25C"/>
                </a:solidFill>
                <a:latin typeface="Aptos"/>
              </a:defRPr>
            </a:pPr>
            <a:r>
              <a:t>DEVELOPMENT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1764792"/>
            <a:ext cx="3154680" cy="143560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Python and Jupyter Notebook are used to run experiments. Gymnasium provides the environment interface, MiniGrid provides the rooms, and Stable-Baselines3/PyTorch provide the PPO implementation and model 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611880"/>
            <a:ext cx="4937760" cy="32004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CC2B2"/>
                </a:solidFill>
                <a:latin typeface="Aptos"/>
              </a:defRPr>
            </a:pPr>
            <a:r>
              <a:t>Agent interaction cycle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078224"/>
            <a:ext cx="100584" cy="100584"/>
          </a:xfrm>
          <a:prstGeom prst="ellipse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" y="3977639"/>
            <a:ext cx="4937760" cy="61264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Receives an observation, including a local image and direction information.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690872"/>
            <a:ext cx="100584" cy="100584"/>
          </a:xfrm>
          <a:prstGeom prst="ellipse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4590288"/>
            <a:ext cx="4937760" cy="61264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Chooses one of the environment's discrete actions, such as turn or move forward.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5303520"/>
            <a:ext cx="100584" cy="100584"/>
          </a:xfrm>
          <a:prstGeom prst="ellipse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5202936"/>
            <a:ext cx="4937760" cy="61264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Receives reward and a new observation; an episode ends at success or timeout.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11880"/>
            <a:ext cx="4937760" cy="32004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CC2B2"/>
                </a:solidFill>
                <a:latin typeface="Aptos"/>
              </a:defRPr>
            </a:pPr>
            <a:r>
              <a:t>Configurable environment properties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0" y="4078224"/>
            <a:ext cx="100584" cy="100584"/>
          </a:xfrm>
          <a:prstGeom prst="ellipse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0256" y="3977639"/>
            <a:ext cx="4800600" cy="61264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Room count and room-size settings can change task complexity.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0" y="4690872"/>
            <a:ext cx="100584" cy="100584"/>
          </a:xfrm>
          <a:prstGeom prst="ellipse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0256" y="4590288"/>
            <a:ext cx="4800600" cy="61264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Map dimensions control the grid dimensions; display size only changes visualization.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0" y="5303520"/>
            <a:ext cx="100584" cy="100584"/>
          </a:xfrm>
          <a:prstGeom prst="ellipse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0256" y="5202936"/>
            <a:ext cx="4800600" cy="61264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The observation window controls the amount of local visual input; walls can occlude visibility.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7F9FC"/>
                </a:solidFill>
                <a:latin typeface="Aptos"/>
              </a:defRPr>
            </a:pPr>
            <a:r>
              <a:t>3. How the proposed system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777240" cy="50292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08760" y="804672"/>
            <a:ext cx="9875520" cy="2743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The intended feedback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4572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92240"/>
            <a:ext cx="82296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Adaptive Curriculum Learning • MiniGrid MultiRoom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45920"/>
            <a:ext cx="1691640" cy="25603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645920"/>
            <a:ext cx="64008" cy="2560320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73936"/>
            <a:ext cx="132588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CC2B2"/>
                </a:solidFill>
                <a:latin typeface="Aptos"/>
              </a:defRPr>
            </a:pPr>
            <a:r>
              <a:t>1. OBSERVE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76272"/>
            <a:ext cx="1325880" cy="193852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F7F9FC"/>
                </a:solidFill>
                <a:latin typeface="Aptos"/>
              </a:defRPr>
            </a:pPr>
            <a:r>
              <a:t>The agent receives the current MiniGrid observation, not necessarily the whole map.</a:t>
            </a:r>
          </a:p>
        </p:txBody>
      </p:sp>
      <p:sp>
        <p:nvSpPr>
          <p:cNvPr id="11" name="Chevron 10"/>
          <p:cNvSpPr/>
          <p:nvPr/>
        </p:nvSpPr>
        <p:spPr>
          <a:xfrm>
            <a:off x="2377440" y="2606040"/>
            <a:ext cx="411480" cy="457200"/>
          </a:xfrm>
          <a:prstGeom prst="chevron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26080" y="1645920"/>
            <a:ext cx="1691640" cy="25603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26080" y="1645920"/>
            <a:ext cx="64008" cy="2560320"/>
          </a:xfrm>
          <a:prstGeom prst="rect">
            <a:avLst/>
          </a:prstGeom>
          <a:solidFill>
            <a:srgbClr val="70D2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27248" y="1773936"/>
            <a:ext cx="132588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0D2E1"/>
                </a:solidFill>
                <a:latin typeface="Aptos"/>
              </a:defRPr>
            </a:pPr>
            <a:r>
              <a:t>2. 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2176272"/>
            <a:ext cx="1325880" cy="193852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F7F9FC"/>
                </a:solidFill>
                <a:latin typeface="Aptos"/>
              </a:defRPr>
            </a:pPr>
            <a:r>
              <a:t>The PPO policy selects an action based on what it has learned.</a:t>
            </a:r>
          </a:p>
        </p:txBody>
      </p:sp>
      <p:sp>
        <p:nvSpPr>
          <p:cNvPr id="16" name="Chevron 15"/>
          <p:cNvSpPr/>
          <p:nvPr/>
        </p:nvSpPr>
        <p:spPr>
          <a:xfrm>
            <a:off x="4709160" y="2606040"/>
            <a:ext cx="411480" cy="457200"/>
          </a:xfrm>
          <a:prstGeom prst="chevron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57800" y="1645920"/>
            <a:ext cx="1691640" cy="25603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57800" y="1645920"/>
            <a:ext cx="64008" cy="2560320"/>
          </a:xfrm>
          <a:prstGeom prst="rect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1773936"/>
            <a:ext cx="132588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FB25C"/>
                </a:solidFill>
                <a:latin typeface="Aptos"/>
              </a:defRPr>
            </a:pPr>
            <a:r>
              <a:t>3. RECEIVE FEEDBACK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176272"/>
            <a:ext cx="1325880" cy="193852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F7F9FC"/>
                </a:solidFill>
                <a:latin typeface="Aptos"/>
              </a:defRPr>
            </a:pPr>
            <a:r>
              <a:t>MiniGrid returns a reward, next observation, and episode status.</a:t>
            </a:r>
          </a:p>
        </p:txBody>
      </p:sp>
      <p:sp>
        <p:nvSpPr>
          <p:cNvPr id="21" name="Chevron 20"/>
          <p:cNvSpPr/>
          <p:nvPr/>
        </p:nvSpPr>
        <p:spPr>
          <a:xfrm>
            <a:off x="7040880" y="2606040"/>
            <a:ext cx="411480" cy="457200"/>
          </a:xfrm>
          <a:prstGeom prst="chevron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0" y="1645920"/>
            <a:ext cx="1691640" cy="25603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89520" y="1645920"/>
            <a:ext cx="64008" cy="2560320"/>
          </a:xfrm>
          <a:prstGeom prst="rect">
            <a:avLst/>
          </a:prstGeom>
          <a:solidFill>
            <a:srgbClr val="75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8" y="1773936"/>
            <a:ext cx="132588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5D399"/>
                </a:solidFill>
                <a:latin typeface="Aptos"/>
              </a:defRPr>
            </a:pPr>
            <a:r>
              <a:t>4. MEASURE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2176272"/>
            <a:ext cx="1325880" cy="193852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F7F9FC"/>
                </a:solidFill>
                <a:latin typeface="Aptos"/>
              </a:defRPr>
            </a:pPr>
            <a:r>
              <a:t>Evaluation code tracks success rate, reward, and steps across episodes.</a:t>
            </a:r>
          </a:p>
        </p:txBody>
      </p:sp>
      <p:sp>
        <p:nvSpPr>
          <p:cNvPr id="26" name="Chevron 25"/>
          <p:cNvSpPr/>
          <p:nvPr/>
        </p:nvSpPr>
        <p:spPr>
          <a:xfrm>
            <a:off x="9372600" y="2606040"/>
            <a:ext cx="411480" cy="457200"/>
          </a:xfrm>
          <a:prstGeom prst="chevron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21240" y="1645920"/>
            <a:ext cx="1691640" cy="25603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21240" y="1645920"/>
            <a:ext cx="64008" cy="2560320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22408" y="1773936"/>
            <a:ext cx="132588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CC2B2"/>
                </a:solidFill>
                <a:latin typeface="Aptos"/>
              </a:defRPr>
            </a:pPr>
            <a:r>
              <a:t>5. ADAPT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2408" y="2176272"/>
            <a:ext cx="1325880" cy="193852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F7F9FC"/>
                </a:solidFill>
                <a:latin typeface="Aptos"/>
              </a:defRPr>
            </a:pPr>
            <a:r>
              <a:t>The Curriculum Manager will hold the level or advance to a harder room configuration.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572000"/>
            <a:ext cx="10424160" cy="64008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CC2B2"/>
                </a:solidFill>
                <a:latin typeface="Aptos"/>
              </a:defRPr>
            </a:pPr>
            <a:r>
              <a:t>Proposed progression: 2 rooms → 4 rooms → 6 rooms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66360"/>
            <a:ext cx="10332720" cy="68580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FB25C"/>
                </a:solidFill>
                <a:latin typeface="Aptos"/>
              </a:defRPr>
            </a:pPr>
            <a:r>
              <a:t>The feedback loop describes the target design. The adaptive manager and its readiness rule have not yet been implemented, so this is not presented as a completed feature.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7F9FC"/>
                </a:solidFill>
                <a:latin typeface="Aptos"/>
              </a:defRPr>
            </a:pPr>
            <a:r>
              <a:t>4. Work completed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777240" cy="50292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08760" y="804672"/>
            <a:ext cx="9875520" cy="2743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What has been explored and what the results mean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4572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92240"/>
            <a:ext cx="82296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Adaptive Curriculum Learning • MiniGrid MultiRoom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5349240" cy="16459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64008" cy="1645920"/>
          </a:xfrm>
          <a:prstGeom prst="rect">
            <a:avLst/>
          </a:prstGeom>
          <a:solidFill>
            <a:srgbClr val="75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362456"/>
            <a:ext cx="4983479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5D399"/>
                </a:solidFill>
                <a:latin typeface="Aptos"/>
              </a:defRPr>
            </a:pPr>
            <a:r>
              <a:t>ENVIRONMENT VISUALIZATION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764792"/>
            <a:ext cx="4983479" cy="102412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Ran MiniGrid MultiRoom in Jupyter Notebook and examined the generated map, room-size settings, grid dimensions, and display scaling.</a:t>
            </a: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Also inspected the agent's local observation and how wall layout affects visibility.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57800" cy="16459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64008" cy="1645920"/>
          </a:xfrm>
          <a:prstGeom prst="rect">
            <a:avLst/>
          </a:prstGeom>
          <a:solidFill>
            <a:srgbClr val="70D2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362456"/>
            <a:ext cx="489204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0D2E1"/>
                </a:solidFill>
                <a:latin typeface="Aptos"/>
              </a:defRPr>
            </a:pPr>
            <a:r>
              <a:t>RESET AND RANDOM SEEDS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764792"/>
            <a:ext cx="4892040" cy="102412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Tested environment resets and reviewed how a seed can reproduce randomized setup conditions.</a:t>
            </a: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The environment determines the initial placement and orientation; PPO does not choose its own starting position.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54680"/>
            <a:ext cx="5349240" cy="16459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154680"/>
            <a:ext cx="64008" cy="1645920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282696"/>
            <a:ext cx="4983479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CC2B2"/>
                </a:solidFill>
                <a:latin typeface="Aptos"/>
              </a:defRPr>
            </a:pPr>
            <a:r>
              <a:t>BFS NAVIGATION DEMONSTRATION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3685032"/>
            <a:ext cx="4983479" cy="102412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A separate Breadth-First Search (BFS) script successfully found a route and animated movement toward the goal.</a:t>
            </a: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BFS is a search-based demonstration that uses map information; it is not a learned reinforcement-learning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154680"/>
            <a:ext cx="5257800" cy="16459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154680"/>
            <a:ext cx="64008" cy="1645920"/>
          </a:xfrm>
          <a:prstGeom prst="rect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282696"/>
            <a:ext cx="489204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FB25C"/>
                </a:solidFill>
                <a:latin typeface="Aptos"/>
              </a:defRPr>
            </a:pPr>
            <a:r>
              <a:t>INITIAL PPO EXPERIMENT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685032"/>
            <a:ext cx="4892040" cy="102412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A short PPO training run of 10,000 timesteps was attempted.</a:t>
            </a: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The agent did not yet show reliable goal navigation. This is a current limitation and the next technical priority, not a successful learning result.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47878"/>
                </a:solidFill>
                <a:latin typeface="Aptos"/>
              </a:defRPr>
            </a:pPr>
            <a:r>
              <a:t>Still pending: reliable PPO baseline, adaptive Curriculum Manager, systematic comparisons, and final measured results.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7F9FC"/>
                </a:solidFill>
                <a:latin typeface="Aptos"/>
              </a:defRPr>
            </a:pPr>
            <a:r>
              <a:t>5. Proposed curriculum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777240" cy="50292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08760" y="804672"/>
            <a:ext cx="9875520" cy="2743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Progressively increase the number of 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4572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92240"/>
            <a:ext cx="82296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Adaptive Curriculum Learning • MiniGrid MultiRoom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74720" cy="201168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64008" cy="2011680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53895"/>
            <a:ext cx="310896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CC2B2"/>
                </a:solidFill>
                <a:latin typeface="Aptos"/>
              </a:defRPr>
            </a:pPr>
            <a:r>
              <a:t>LEVEL 1 — 2 ROOMS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856231"/>
            <a:ext cx="3108960" cy="138988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Begin with a simpler layout so the agent can practice basic movement and reaching a goal.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Measure success over evaluation episodes before deciding whether to increase difficulty.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325880"/>
            <a:ext cx="3474720" cy="201168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25880"/>
            <a:ext cx="64008" cy="2011680"/>
          </a:xfrm>
          <a:prstGeom prst="rect">
            <a:avLst/>
          </a:prstGeom>
          <a:solidFill>
            <a:srgbClr val="70D2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453895"/>
            <a:ext cx="310896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0D2E1"/>
                </a:solidFill>
                <a:latin typeface="Aptos"/>
              </a:defRPr>
            </a:pPr>
            <a:r>
              <a:t>LEVEL 2 — 4 ROOMS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856231"/>
            <a:ext cx="3108960" cy="138988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Introduce a longer route and more connected spaces after the readiness condition is met.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Continue measuring success and reward to check whether the agent can handle the added complexity.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325880"/>
            <a:ext cx="3474720" cy="201168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25880"/>
            <a:ext cx="64008" cy="2011680"/>
          </a:xfrm>
          <a:prstGeom prst="rect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2168" y="1453895"/>
            <a:ext cx="310896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FB25C"/>
                </a:solidFill>
                <a:latin typeface="Aptos"/>
              </a:defRPr>
            </a:pPr>
            <a:r>
              <a:t>LEVEL 3 — 6 ROOMS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1856231"/>
            <a:ext cx="3108960" cy="138988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Use a more complex layout to test whether the agent can navigate a harder task.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Evaluate final performance and compare it with the baseline approaches.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94760"/>
            <a:ext cx="10424160" cy="32004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CC2B2"/>
                </a:solidFill>
                <a:latin typeface="Aptos"/>
              </a:defRPr>
            </a:pPr>
            <a:r>
              <a:t>How readiness may be decided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261104"/>
            <a:ext cx="100584" cy="100584"/>
          </a:xfrm>
          <a:prstGeom prst="ellipse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" y="4160520"/>
            <a:ext cx="10104120" cy="54864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Use success rate over a fixed window of evaluation episodes as the primary signal.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809744"/>
            <a:ext cx="100584" cy="100584"/>
          </a:xfrm>
          <a:prstGeom prst="ellipse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4709159"/>
            <a:ext cx="10104120" cy="54864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Use average reward and steps as supporting measures of progress.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5358384"/>
            <a:ext cx="100584" cy="100584"/>
          </a:xfrm>
          <a:prstGeom prst="ellipse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5257800"/>
            <a:ext cx="10104120" cy="54864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Select and test a threshold and require stable performance before advancing; these rules are not implemented yet.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97880"/>
            <a:ext cx="10332720" cy="2743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The exact threshold is an experimental design choice, not a result already established.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7F9FC"/>
                </a:solidFill>
                <a:latin typeface="Aptos"/>
              </a:defRPr>
            </a:pPr>
            <a:r>
              <a:t>6. How we will evaluate the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777240" cy="50292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08760" y="804672"/>
            <a:ext cx="9875520" cy="2743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Compare three training strategies fairly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4572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92240"/>
            <a:ext cx="82296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Adaptive Curriculum Learning • MiniGrid MultiRoom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520440" cy="21031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64008" cy="2103120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08176"/>
            <a:ext cx="315468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CC2B2"/>
                </a:solidFill>
                <a:latin typeface="Aptos"/>
              </a:defRPr>
            </a:pPr>
            <a:r>
              <a:t>A. DIRECT PPO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810512"/>
            <a:ext cx="3154680" cy="148132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Train PPO on a difficult environment without gradually changing the task.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This gives a baseline for understanding how the agent performs without a curriculum.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280160"/>
            <a:ext cx="3520440" cy="21031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64008" cy="2103120"/>
          </a:xfrm>
          <a:prstGeom prst="rect">
            <a:avLst/>
          </a:prstGeom>
          <a:solidFill>
            <a:srgbClr val="70D2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1408176"/>
            <a:ext cx="315468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0D2E1"/>
                </a:solidFill>
                <a:latin typeface="Aptos"/>
              </a:defRPr>
            </a:pPr>
            <a:r>
              <a:t>B. FIXED CURRICULUM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1810512"/>
            <a:ext cx="3154680" cy="148132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Increase difficulty from 2 to 4 to 6 rooms according to a predefined schedule.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This tests whether gradual training helps even without adapting to current performance.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280160"/>
            <a:ext cx="3520440" cy="210312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79" y="1280160"/>
            <a:ext cx="64008" cy="2103120"/>
          </a:xfrm>
          <a:prstGeom prst="rect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408176"/>
            <a:ext cx="315468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FB25C"/>
                </a:solidFill>
                <a:latin typeface="Aptos"/>
              </a:defRPr>
            </a:pPr>
            <a:r>
              <a:t>C. ADAPTIVE CURRICULUM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1810512"/>
            <a:ext cx="3154680" cy="148132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Use the proposed manager to decide when to hold or advance based on evaluation metrics.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This tests whether performance-driven progression is more effective than a fixed schedule.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840480"/>
            <a:ext cx="10332720" cy="32004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CC2B2"/>
                </a:solidFill>
                <a:latin typeface="Aptos"/>
              </a:defRPr>
            </a:pPr>
            <a:r>
              <a:t>Metrics we plan to record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306824"/>
            <a:ext cx="100584" cy="100584"/>
          </a:xfrm>
          <a:prstGeom prst="ellipse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" y="4206240"/>
            <a:ext cx="10012680" cy="56692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Success rate: how often the agent reaches the goal.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873752"/>
            <a:ext cx="100584" cy="100584"/>
          </a:xfrm>
          <a:prstGeom prst="ellipse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4773168"/>
            <a:ext cx="10012680" cy="56692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Average reward and steps: how well and how efficiently it completes episodes.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5440680"/>
            <a:ext cx="100584" cy="100584"/>
          </a:xfrm>
          <a:prstGeom prst="ellipse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5340096"/>
            <a:ext cx="10012680" cy="56692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Training effort and results across multiple random seeds/layouts to check consistency.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989320"/>
            <a:ext cx="10332720" cy="22860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No comparative results are available yet; they will be reported after experiments are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7F9FC"/>
                </a:solidFill>
                <a:latin typeface="Aptos"/>
              </a:defRPr>
            </a:pPr>
            <a:r>
              <a:t>7. What we will do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777240" cy="50292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08760" y="804672"/>
            <a:ext cx="9875520" cy="2743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Immediate implementation 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4572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92240"/>
            <a:ext cx="82296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Adaptive Curriculum Learning • MiniGrid MultiRoom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257800" cy="160020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64008" cy="1600200"/>
          </a:xfrm>
          <a:prstGeom prst="rect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362456"/>
            <a:ext cx="489204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FB25C"/>
                </a:solidFill>
                <a:latin typeface="Aptos"/>
              </a:defRPr>
            </a:pPr>
            <a:r>
              <a:t>1. STABILIZE PPO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64792"/>
            <a:ext cx="4892040" cy="97840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Investigate why the current PPO policy does not navigate reliably. Verify observations, action handling, reward signals, and evaluation episodes before increasing training complexity.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57800" cy="160020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64008" cy="1600200"/>
          </a:xfrm>
          <a:prstGeom prst="rect">
            <a:avLst/>
          </a:prstGeom>
          <a:solidFill>
            <a:srgbClr val="70D2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362456"/>
            <a:ext cx="489204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0D2E1"/>
                </a:solidFill>
                <a:latin typeface="Aptos"/>
              </a:defRPr>
            </a:pPr>
            <a:r>
              <a:t>2. BUILD THE CURRICULUM 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764792"/>
            <a:ext cx="4892040" cy="97840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Implement a component that records success rate and other metrics, applies a tested readiness rule, and switches between the 2-, 4-, and 6-room levels.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54680"/>
            <a:ext cx="5257800" cy="160020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154680"/>
            <a:ext cx="64008" cy="1600200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282696"/>
            <a:ext cx="489204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CC2B2"/>
                </a:solidFill>
                <a:latin typeface="Aptos"/>
              </a:defRPr>
            </a:pPr>
            <a:r>
              <a:t>3. RUN CONTROLLED EXPERIMENTS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685032"/>
            <a:ext cx="4892040" cy="97840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Train and evaluate direct PPO, fixed curriculum, and adaptive curriculum using comparable settings. Repeat with multiple seeds and save the results for analysis.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154680"/>
            <a:ext cx="5257800" cy="160020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154680"/>
            <a:ext cx="64008" cy="1600200"/>
          </a:xfrm>
          <a:prstGeom prst="rect">
            <a:avLst/>
          </a:prstGeom>
          <a:solidFill>
            <a:srgbClr val="75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282696"/>
            <a:ext cx="489204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5D399"/>
                </a:solidFill>
                <a:latin typeface="Aptos"/>
              </a:defRPr>
            </a:pPr>
            <a:r>
              <a:t>4. ANALYZE AND DOCUMENT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685032"/>
            <a:ext cx="4892040" cy="97840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Plot success rate and reward over training, compare steps and training effort, discuss limitations, and use the measured evidence to decide whether adaptive curriculum helps.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10424160" cy="64008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7F9FC"/>
                </a:solidFill>
                <a:latin typeface="Aptos"/>
              </a:defRPr>
            </a:pPr>
            <a:r>
              <a:t>Immediate priority: obtain a reliable PPO baseline first. Then add curriculum switching and evaluate the full system.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989320"/>
            <a:ext cx="10424160" cy="22860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These are planned tasks, not completed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7F9FC"/>
                </a:solidFill>
                <a:latin typeface="Aptos"/>
              </a:defRPr>
            </a:pPr>
            <a:r>
              <a:t>8. Challenges and mitigation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" y="896112"/>
            <a:ext cx="777240" cy="50292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08760" y="804672"/>
            <a:ext cx="9875520" cy="2743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A4B4CA"/>
                </a:solidFill>
                <a:latin typeface="Aptos"/>
              </a:defRPr>
            </a:pPr>
            <a:r>
              <a:t>How we will keep the project technically credible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4572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92240"/>
            <a:ext cx="8229600" cy="16459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A4B4CA"/>
                </a:solidFill>
                <a:latin typeface="Aptos"/>
              </a:defRPr>
            </a:pPr>
            <a:r>
              <a:t>Adaptive Curriculum Learning • MiniGrid MultiRoom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212080" cy="169164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34440"/>
            <a:ext cx="64008" cy="1691640"/>
          </a:xfrm>
          <a:prstGeom prst="rect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362456"/>
            <a:ext cx="484632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FB25C"/>
                </a:solidFill>
                <a:latin typeface="Aptos"/>
              </a:defRPr>
            </a:pPr>
            <a:r>
              <a:t>PPO DOES NOT LEARN RELIABLY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64792"/>
            <a:ext cx="4846320" cy="106984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Check the observation extractor, action behavior, reward flow, and evaluation setup. Track success rate over repeated episodes instead of judging from one animation.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12080" cy="169164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64008" cy="1691640"/>
          </a:xfrm>
          <a:prstGeom prst="rect">
            <a:avLst/>
          </a:prstGeom>
          <a:solidFill>
            <a:srgbClr val="70D2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362456"/>
            <a:ext cx="484632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0D2E1"/>
                </a:solidFill>
                <a:latin typeface="Aptos"/>
              </a:defRPr>
            </a:pPr>
            <a:r>
              <a:t>CURRICULUM MAY ADVANCE TOO EARLY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764792"/>
            <a:ext cx="4846320" cy="106984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Use a rolling evaluation window and require stable performance before changing levels. Test different thresholds instead of assuming one value is correct.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46120"/>
            <a:ext cx="5212080" cy="169164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246120"/>
            <a:ext cx="64008" cy="1691640"/>
          </a:xfrm>
          <a:prstGeom prst="rect">
            <a:avLst/>
          </a:prstGeom>
          <a:solidFill>
            <a:srgbClr val="2C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374136"/>
            <a:ext cx="484632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CC2B2"/>
                </a:solidFill>
                <a:latin typeface="Aptos"/>
              </a:defRPr>
            </a:pPr>
            <a:r>
              <a:t>RANDOMNESS AFFECTS RESULTS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776472"/>
            <a:ext cx="4846320" cy="106984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Use multiple random seeds and comparable evaluation conditions. Report average performance and variation, not only the best run.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246120"/>
            <a:ext cx="5212080" cy="169164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246120"/>
            <a:ext cx="64008" cy="1691640"/>
          </a:xfrm>
          <a:prstGeom prst="rect">
            <a:avLst/>
          </a:prstGeom>
          <a:solidFill>
            <a:srgbClr val="75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374136"/>
            <a:ext cx="484632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5D399"/>
                </a:solidFill>
                <a:latin typeface="Aptos"/>
              </a:defRPr>
            </a:pPr>
            <a:r>
              <a:t>BFS AND PPO ARE DIFFERENT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776472"/>
            <a:ext cx="4846320" cy="1069848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F7F9FC"/>
                </a:solidFill>
                <a:latin typeface="Aptos"/>
              </a:defRPr>
            </a:pPr>
            <a:r>
              <a:t>Keep BFS as a separate pathfinding demonstration or reference. Only results produced by the trained PPO policy can support claims about PPO learning.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49240"/>
            <a:ext cx="10515600" cy="54864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F7F9FC"/>
                </a:solidFill>
                <a:latin typeface="Aptos"/>
              </a:defRPr>
            </a:pPr>
            <a:r>
              <a:t>A successful project outcome is a reproducible comparison, even if adaptive curriculum does not outperform every baseline.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2CC2B2"/>
                </a:solidFill>
                <a:latin typeface="Aptos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515600" cy="86868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F7F9FC"/>
                </a:solidFill>
                <a:latin typeface="Aptos"/>
              </a:defRPr>
            </a:pPr>
            <a:r>
              <a:t>From environment exploration to an adaptive-learning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3337560" cy="182880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51760"/>
            <a:ext cx="64008" cy="1828800"/>
          </a:xfrm>
          <a:prstGeom prst="rect">
            <a:avLst/>
          </a:prstGeom>
          <a:solidFill>
            <a:srgbClr val="75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779776"/>
            <a:ext cx="297180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5D399"/>
                </a:solidFill>
                <a:latin typeface="Aptos"/>
              </a:defRPr>
            </a:pPr>
            <a:r>
              <a:t>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182112"/>
            <a:ext cx="2971800" cy="120700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Environment visualization and configuration experiments.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BFS pathfinding demo.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Initial PPO training attempt.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51760"/>
            <a:ext cx="3337560" cy="182880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2651760"/>
            <a:ext cx="64008" cy="1828800"/>
          </a:xfrm>
          <a:prstGeom prst="rect">
            <a:avLst/>
          </a:prstGeom>
          <a:solidFill>
            <a:srgbClr val="70D2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2779776"/>
            <a:ext cx="297180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70D2E1"/>
                </a:solidFill>
                <a:latin typeface="Aptos"/>
              </a:defRPr>
            </a:pPr>
            <a: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3182112"/>
            <a:ext cx="2971800" cy="120700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Improve PPO reliability.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Implement the Curriculum Manager.</a:t>
            </a: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</a:p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Run controlled comparisons and record results.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651760"/>
            <a:ext cx="3337560" cy="1828800"/>
          </a:xfrm>
          <a:prstGeom prst="roundRect">
            <a:avLst/>
          </a:prstGeom>
          <a:solidFill>
            <a:srgbClr val="192745"/>
          </a:solidFill>
          <a:ln>
            <a:solidFill>
              <a:srgbClr val="36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651760"/>
            <a:ext cx="64008" cy="1828800"/>
          </a:xfrm>
          <a:prstGeom prst="rect">
            <a:avLst/>
          </a:prstGeom>
          <a:solidFill>
            <a:srgbClr val="FFB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2779776"/>
            <a:ext cx="2971800" cy="347472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FFB25C"/>
                </a:solidFill>
                <a:latin typeface="Aptos"/>
              </a:defRPr>
            </a:pPr>
            <a:r>
              <a:t>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3182112"/>
            <a:ext cx="2971800" cy="1207007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F7F9FC"/>
                </a:solidFill>
                <a:latin typeface="Aptos"/>
              </a:defRPr>
            </a:pPr>
            <a:r>
              <a:t>Measure whether performance-driven difficulty progression improves learning efficiency and navigation outcomes.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10424160" cy="50292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F7F9FC"/>
                </a:solidFill>
                <a:latin typeface="Aptos"/>
              </a:defRPr>
            </a:pPr>
            <a:r>
              <a:t>Thank you  •  Questions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27432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A4B4CA"/>
                </a:solidFill>
                <a:latin typeface="Aptos"/>
              </a:defRPr>
            </a:pPr>
            <a:r>
              <a:t>Project: Adaptive Curriculum Learning for Autonomous Reinforcement Learning Agents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