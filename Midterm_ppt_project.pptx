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D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7132320" cy="32004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2CC2B2"/>
                </a:solidFill>
                <a:latin typeface="Aptos"/>
              </a:defRPr>
            </a:pPr>
            <a:r>
              <a:t>PROJECT MIDTERM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315200" cy="15544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F7F9FC"/>
                </a:solidFill>
                <a:latin typeface="Aptos"/>
              </a:defRPr>
            </a:pPr>
            <a:r>
              <a:t>Adaptive Curriculum Learning</a:t>
            </a:r>
          </a:p>
          <a:p>
            <a:pPr>
              <a:spcAft>
                <a:spcPts val="500"/>
              </a:spcAft>
              <a:defRPr sz="2900" b="1">
                <a:solidFill>
                  <a:srgbClr val="F7F9FC"/>
                </a:solidFill>
                <a:latin typeface="Aptos"/>
              </a:defRPr>
            </a:pPr>
            <a:r>
              <a:t>for Autonomous Reinforcement Learning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3246120"/>
            <a:ext cx="7132320" cy="59436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70D2E1"/>
                </a:solidFill>
                <a:latin typeface="Aptos"/>
              </a:defRPr>
            </a:pPr>
            <a:r>
              <a:t>MiniGrid MultiRoom  •  PPO  •  Performance-driven difficulty adaptation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4160520"/>
            <a:ext cx="6949440" cy="68580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E1E9F4"/>
                </a:solidFill>
                <a:latin typeface="Aptos"/>
              </a:defRPr>
            </a:pPr>
            <a:r>
              <a:t>Project focus: helping an RL agent learn navigation progressively, then testing whether adapting difficulty to its performance is beneficial.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5303520"/>
            <a:ext cx="6217920" cy="59436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A4B4CA"/>
                </a:solidFill>
                <a:latin typeface="Aptos"/>
              </a:defRPr>
            </a:pPr>
            <a:r>
              <a:t>Bhavana Raavi  |  BID: B00123226</a:t>
            </a:r>
          </a:p>
          <a:p>
            <a:pPr>
              <a:spcAft>
                <a:spcPts val="500"/>
              </a:spcAft>
              <a:defRPr sz="1300" b="0">
                <a:solidFill>
                  <a:srgbClr val="A4B4CA"/>
                </a:solidFill>
                <a:latin typeface="Aptos"/>
              </a:defRPr>
            </a:pPr>
            <a:r>
              <a:t>Data Science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6144768"/>
            <a:ext cx="6400800" cy="1828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A4B4CA"/>
                </a:solidFill>
                <a:latin typeface="Aptos"/>
              </a:defRPr>
            </a:pPr>
            <a:r>
              <a:t>Current progress, system design, and next implementation steps</a:t>
            </a:r>
          </a:p>
        </p:txBody>
      </p:sp>
      <p:sp>
        <p:nvSpPr>
          <p:cNvPr id="8" name="Rectangle 7"/>
          <p:cNvSpPr/>
          <p:nvPr/>
        </p:nvSpPr>
        <p:spPr>
          <a:xfrm>
            <a:off x="8366760" y="1188720"/>
            <a:ext cx="310896" cy="310896"/>
          </a:xfrm>
          <a:prstGeom prst="rect">
            <a:avLst/>
          </a:prstGeom>
          <a:solidFill>
            <a:srgbClr val="192745"/>
          </a:solidFill>
          <a:ln>
            <a:solidFill>
              <a:srgbClr val="4152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366760" y="1581912"/>
            <a:ext cx="310896" cy="310896"/>
          </a:xfrm>
          <a:prstGeom prst="rect">
            <a:avLst/>
          </a:prstGeom>
          <a:solidFill>
            <a:srgbClr val="192745"/>
          </a:solidFill>
          <a:ln>
            <a:solidFill>
              <a:srgbClr val="4152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66760" y="1975104"/>
            <a:ext cx="310896" cy="310896"/>
          </a:xfrm>
          <a:prstGeom prst="rect">
            <a:avLst/>
          </a:prstGeom>
          <a:solidFill>
            <a:srgbClr val="192745"/>
          </a:solidFill>
          <a:ln>
            <a:solidFill>
              <a:srgbClr val="4152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366760" y="2368296"/>
            <a:ext cx="310896" cy="310896"/>
          </a:xfrm>
          <a:prstGeom prst="rect">
            <a:avLst/>
          </a:prstGeom>
          <a:solidFill>
            <a:srgbClr val="192745"/>
          </a:solidFill>
          <a:ln>
            <a:solidFill>
              <a:srgbClr val="4152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59952" y="1188720"/>
            <a:ext cx="310896" cy="310896"/>
          </a:xfrm>
          <a:prstGeom prst="rect">
            <a:avLst/>
          </a:prstGeom>
          <a:solidFill>
            <a:srgbClr val="192745"/>
          </a:solidFill>
          <a:ln>
            <a:solidFill>
              <a:srgbClr val="4152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59952" y="1581912"/>
            <a:ext cx="310896" cy="310896"/>
          </a:xfrm>
          <a:prstGeom prst="rect">
            <a:avLst/>
          </a:prstGeom>
          <a:solidFill>
            <a:srgbClr val="192745"/>
          </a:solidFill>
          <a:ln>
            <a:solidFill>
              <a:srgbClr val="4152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759952" y="1975104"/>
            <a:ext cx="310896" cy="310896"/>
          </a:xfrm>
          <a:prstGeom prst="rect">
            <a:avLst/>
          </a:prstGeom>
          <a:solidFill>
            <a:srgbClr val="2CC2B2"/>
          </a:solidFill>
          <a:ln>
            <a:solidFill>
              <a:srgbClr val="4152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59952" y="2368296"/>
            <a:ext cx="310896" cy="310896"/>
          </a:xfrm>
          <a:prstGeom prst="rect">
            <a:avLst/>
          </a:prstGeom>
          <a:solidFill>
            <a:srgbClr val="192745"/>
          </a:solidFill>
          <a:ln>
            <a:solidFill>
              <a:srgbClr val="4152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53144" y="1188720"/>
            <a:ext cx="310896" cy="310896"/>
          </a:xfrm>
          <a:prstGeom prst="rect">
            <a:avLst/>
          </a:prstGeom>
          <a:solidFill>
            <a:srgbClr val="192745"/>
          </a:solidFill>
          <a:ln>
            <a:solidFill>
              <a:srgbClr val="4152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53144" y="1581912"/>
            <a:ext cx="310896" cy="310896"/>
          </a:xfrm>
          <a:prstGeom prst="rect">
            <a:avLst/>
          </a:prstGeom>
          <a:solidFill>
            <a:srgbClr val="192745"/>
          </a:solidFill>
          <a:ln>
            <a:solidFill>
              <a:srgbClr val="4152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53144" y="1975104"/>
            <a:ext cx="310896" cy="310896"/>
          </a:xfrm>
          <a:prstGeom prst="rect">
            <a:avLst/>
          </a:prstGeom>
          <a:solidFill>
            <a:srgbClr val="2CC2B2"/>
          </a:solidFill>
          <a:ln>
            <a:solidFill>
              <a:srgbClr val="4152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53144" y="2368296"/>
            <a:ext cx="310896" cy="310896"/>
          </a:xfrm>
          <a:prstGeom prst="rect">
            <a:avLst/>
          </a:prstGeom>
          <a:solidFill>
            <a:srgbClr val="192745"/>
          </a:solidFill>
          <a:ln>
            <a:solidFill>
              <a:srgbClr val="4152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546336" y="1188720"/>
            <a:ext cx="310896" cy="310896"/>
          </a:xfrm>
          <a:prstGeom prst="rect">
            <a:avLst/>
          </a:prstGeom>
          <a:solidFill>
            <a:srgbClr val="192745"/>
          </a:solidFill>
          <a:ln>
            <a:solidFill>
              <a:srgbClr val="4152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546336" y="1581912"/>
            <a:ext cx="310896" cy="310896"/>
          </a:xfrm>
          <a:prstGeom prst="rect">
            <a:avLst/>
          </a:prstGeom>
          <a:solidFill>
            <a:srgbClr val="192745"/>
          </a:solidFill>
          <a:ln>
            <a:solidFill>
              <a:srgbClr val="4152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546336" y="1975104"/>
            <a:ext cx="310896" cy="310896"/>
          </a:xfrm>
          <a:prstGeom prst="rect">
            <a:avLst/>
          </a:prstGeom>
          <a:solidFill>
            <a:srgbClr val="2CC2B2"/>
          </a:solidFill>
          <a:ln>
            <a:solidFill>
              <a:srgbClr val="4152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546336" y="2368296"/>
            <a:ext cx="310896" cy="310896"/>
          </a:xfrm>
          <a:prstGeom prst="rect">
            <a:avLst/>
          </a:prstGeom>
          <a:solidFill>
            <a:srgbClr val="192745"/>
          </a:solidFill>
          <a:ln>
            <a:solidFill>
              <a:srgbClr val="4152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939528" y="1188720"/>
            <a:ext cx="310896" cy="310896"/>
          </a:xfrm>
          <a:prstGeom prst="rect">
            <a:avLst/>
          </a:prstGeom>
          <a:solidFill>
            <a:srgbClr val="192745"/>
          </a:solidFill>
          <a:ln>
            <a:solidFill>
              <a:srgbClr val="4152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939528" y="1581912"/>
            <a:ext cx="310896" cy="310896"/>
          </a:xfrm>
          <a:prstGeom prst="rect">
            <a:avLst/>
          </a:prstGeom>
          <a:solidFill>
            <a:srgbClr val="2CC2B2"/>
          </a:solidFill>
          <a:ln>
            <a:solidFill>
              <a:srgbClr val="4152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939528" y="1975104"/>
            <a:ext cx="310896" cy="310896"/>
          </a:xfrm>
          <a:prstGeom prst="rect">
            <a:avLst/>
          </a:prstGeom>
          <a:solidFill>
            <a:srgbClr val="2CC2B2"/>
          </a:solidFill>
          <a:ln>
            <a:solidFill>
              <a:srgbClr val="4152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939528" y="2368296"/>
            <a:ext cx="310896" cy="310896"/>
          </a:xfrm>
          <a:prstGeom prst="rect">
            <a:avLst/>
          </a:prstGeom>
          <a:solidFill>
            <a:srgbClr val="192745"/>
          </a:solidFill>
          <a:ln>
            <a:solidFill>
              <a:srgbClr val="4152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332720" y="1188720"/>
            <a:ext cx="310896" cy="310896"/>
          </a:xfrm>
          <a:prstGeom prst="rect">
            <a:avLst/>
          </a:prstGeom>
          <a:solidFill>
            <a:srgbClr val="192745"/>
          </a:solidFill>
          <a:ln>
            <a:solidFill>
              <a:srgbClr val="4152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332720" y="1581912"/>
            <a:ext cx="310896" cy="310896"/>
          </a:xfrm>
          <a:prstGeom prst="rect">
            <a:avLst/>
          </a:prstGeom>
          <a:solidFill>
            <a:srgbClr val="2CC2B2"/>
          </a:solidFill>
          <a:ln>
            <a:solidFill>
              <a:srgbClr val="4152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332720" y="1975104"/>
            <a:ext cx="310896" cy="310896"/>
          </a:xfrm>
          <a:prstGeom prst="rect">
            <a:avLst/>
          </a:prstGeom>
          <a:solidFill>
            <a:srgbClr val="192745"/>
          </a:solidFill>
          <a:ln>
            <a:solidFill>
              <a:srgbClr val="4152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332720" y="2368296"/>
            <a:ext cx="310896" cy="310896"/>
          </a:xfrm>
          <a:prstGeom prst="rect">
            <a:avLst/>
          </a:prstGeom>
          <a:solidFill>
            <a:srgbClr val="192745"/>
          </a:solidFill>
          <a:ln>
            <a:solidFill>
              <a:srgbClr val="4152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725912" y="1188720"/>
            <a:ext cx="310896" cy="310896"/>
          </a:xfrm>
          <a:prstGeom prst="rect">
            <a:avLst/>
          </a:prstGeom>
          <a:solidFill>
            <a:srgbClr val="192745"/>
          </a:solidFill>
          <a:ln>
            <a:solidFill>
              <a:srgbClr val="4152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725912" y="1581912"/>
            <a:ext cx="310896" cy="310896"/>
          </a:xfrm>
          <a:prstGeom prst="rect">
            <a:avLst/>
          </a:prstGeom>
          <a:solidFill>
            <a:srgbClr val="192745"/>
          </a:solidFill>
          <a:ln>
            <a:solidFill>
              <a:srgbClr val="4152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725912" y="1975104"/>
            <a:ext cx="310896" cy="310896"/>
          </a:xfrm>
          <a:prstGeom prst="rect">
            <a:avLst/>
          </a:prstGeom>
          <a:solidFill>
            <a:srgbClr val="192745"/>
          </a:solidFill>
          <a:ln>
            <a:solidFill>
              <a:srgbClr val="4152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725912" y="2368296"/>
            <a:ext cx="310896" cy="310896"/>
          </a:xfrm>
          <a:prstGeom prst="rect">
            <a:avLst/>
          </a:prstGeom>
          <a:solidFill>
            <a:srgbClr val="192745"/>
          </a:solidFill>
          <a:ln>
            <a:solidFill>
              <a:srgbClr val="4152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D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0292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7F9FC"/>
                </a:solidFill>
                <a:latin typeface="Aptos"/>
              </a:defRPr>
            </a:pPr>
            <a:r>
              <a:t>1. 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896112"/>
            <a:ext cx="777240" cy="50292"/>
          </a:xfrm>
          <a:prstGeom prst="rect">
            <a:avLst/>
          </a:prstGeom>
          <a:solidFill>
            <a:srgbClr val="2C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8760" y="804672"/>
            <a:ext cx="9875520" cy="27432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A4B4CA"/>
                </a:solidFill>
                <a:latin typeface="Aptos"/>
              </a:defRPr>
            </a:pPr>
            <a:r>
              <a:t>Problem, idea, and research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457200" cy="16459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A4B4C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92240"/>
            <a:ext cx="8229600" cy="16459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A4B4CA"/>
                </a:solidFill>
                <a:latin typeface="Aptos"/>
              </a:defRPr>
            </a:pPr>
            <a:r>
              <a:t>Adaptive Curriculum Learning • MiniGrid MultiRoom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3474720" cy="2331720"/>
          </a:xfrm>
          <a:prstGeom prst="roundRect">
            <a:avLst/>
          </a:prstGeom>
          <a:solidFill>
            <a:srgbClr val="192745"/>
          </a:solidFill>
          <a:ln>
            <a:solidFill>
              <a:srgbClr val="36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325880"/>
            <a:ext cx="64008" cy="2331720"/>
          </a:xfrm>
          <a:prstGeom prst="rect">
            <a:avLst/>
          </a:prstGeom>
          <a:solidFill>
            <a:srgbClr val="2C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453895"/>
            <a:ext cx="3108960" cy="34747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CC2B2"/>
                </a:solidFill>
                <a:latin typeface="Aptos"/>
              </a:defRPr>
            </a:pPr>
            <a:r>
              <a:t>THE 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856231"/>
            <a:ext cx="3108960" cy="1709927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F7F9FC"/>
                </a:solidFill>
                <a:latin typeface="Aptos"/>
              </a:defRPr>
            </a:pPr>
            <a:r>
              <a:t>In reinforcement learning, an agent may struggle when it is trained immediately on a complex task. It may receive few successful experiences, making it difficult to learn useful behavior.</a:t>
            </a:r>
          </a:p>
          <a:p>
            <a:pPr>
              <a:spcAft>
                <a:spcPts val="500"/>
              </a:spcAft>
              <a:defRPr sz="1300" b="0">
                <a:solidFill>
                  <a:srgbClr val="F7F9FC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300" b="0">
                <a:solidFill>
                  <a:srgbClr val="F7F9FC"/>
                </a:solidFill>
                <a:latin typeface="Aptos"/>
              </a:defRPr>
            </a:pPr>
            <a:r>
              <a:t>A gradual training strategy may help the agent build basic skills before facing harder layouts.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325880"/>
            <a:ext cx="3474720" cy="2331720"/>
          </a:xfrm>
          <a:prstGeom prst="roundRect">
            <a:avLst/>
          </a:prstGeom>
          <a:solidFill>
            <a:srgbClr val="192745"/>
          </a:solidFill>
          <a:ln>
            <a:solidFill>
              <a:srgbClr val="36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325880"/>
            <a:ext cx="64008" cy="2331720"/>
          </a:xfrm>
          <a:prstGeom prst="rect">
            <a:avLst/>
          </a:prstGeom>
          <a:solidFill>
            <a:srgbClr val="70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453895"/>
            <a:ext cx="3108960" cy="34747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70D2E1"/>
                </a:solidFill>
                <a:latin typeface="Aptos"/>
              </a:defRPr>
            </a:pPr>
            <a:r>
              <a:t>OUR IDEA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856231"/>
            <a:ext cx="3108960" cy="1709927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F7F9FC"/>
                </a:solidFill>
                <a:latin typeface="Aptos"/>
              </a:defRPr>
            </a:pPr>
            <a:r>
              <a:t>Use MiniGrid MultiRoom as a navigation environment and train a PPO agent on tasks of increasing difficulty.</a:t>
            </a:r>
          </a:p>
          <a:p>
            <a:pPr>
              <a:spcAft>
                <a:spcPts val="500"/>
              </a:spcAft>
              <a:defRPr sz="1300" b="0">
                <a:solidFill>
                  <a:srgbClr val="F7F9FC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300" b="0">
                <a:solidFill>
                  <a:srgbClr val="F7F9FC"/>
                </a:solidFill>
                <a:latin typeface="Aptos"/>
              </a:defRPr>
            </a:pPr>
            <a:r>
              <a:t>A proposed Curriculum Manager will monitor performance and decide whether the agent should stay at its current level or move to a harder level.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325880"/>
            <a:ext cx="3474720" cy="2331720"/>
          </a:xfrm>
          <a:prstGeom prst="roundRect">
            <a:avLst/>
          </a:prstGeom>
          <a:solidFill>
            <a:srgbClr val="192745"/>
          </a:solidFill>
          <a:ln>
            <a:solidFill>
              <a:srgbClr val="36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325880"/>
            <a:ext cx="64008" cy="2331720"/>
          </a:xfrm>
          <a:prstGeom prst="rect">
            <a:avLst/>
          </a:prstGeom>
          <a:solidFill>
            <a:srgbClr val="FFB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453895"/>
            <a:ext cx="3108960" cy="34747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FB25C"/>
                </a:solidFill>
                <a:latin typeface="Aptos"/>
              </a:defRPr>
            </a:pPr>
            <a:r>
              <a:t>RESEARCH QUESTION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1856231"/>
            <a:ext cx="3108960" cy="1709927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F7F9FC"/>
                </a:solidFill>
                <a:latin typeface="Aptos"/>
              </a:defRPr>
            </a:pPr>
            <a:r>
              <a:t>Does an adaptive curriculum help the agent learn navigation more efficiently than training directly on a hard task or following a fixed schedule?</a:t>
            </a:r>
          </a:p>
          <a:p>
            <a:pPr>
              <a:spcAft>
                <a:spcPts val="500"/>
              </a:spcAft>
              <a:defRPr sz="1300" b="0">
                <a:solidFill>
                  <a:srgbClr val="F7F9FC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300" b="0">
                <a:solidFill>
                  <a:srgbClr val="F7F9FC"/>
                </a:solidFill>
                <a:latin typeface="Aptos"/>
              </a:defRPr>
            </a:pPr>
            <a:r>
              <a:t>We will answer this by implementing the manager and comparing measurable results.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069080"/>
            <a:ext cx="10607040" cy="36576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CC2B2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526280"/>
            <a:ext cx="10515600" cy="77724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F7F9FC"/>
                </a:solidFill>
                <a:latin typeface="Aptos"/>
              </a:defRPr>
            </a:pPr>
            <a:r>
              <a:t>Start with manageable tasks → measure learning progress → increase difficulty when performance indicates readiness.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623560"/>
            <a:ext cx="10424160" cy="50292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A4B4CA"/>
                </a:solidFill>
                <a:latin typeface="Aptos"/>
              </a:defRPr>
            </a:pPr>
            <a:r>
              <a:t>MiniGrid and PPO are existing tools. The performance-driven Curriculum Manager and its evaluation are the proposed contribution.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D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0292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7F9FC"/>
                </a:solidFill>
                <a:latin typeface="Aptos"/>
              </a:defRPr>
            </a:pPr>
            <a:r>
              <a:t>2. Environment, agent, and tools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896112"/>
            <a:ext cx="777240" cy="50292"/>
          </a:xfrm>
          <a:prstGeom prst="rect">
            <a:avLst/>
          </a:prstGeom>
          <a:solidFill>
            <a:srgbClr val="2C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8760" y="804672"/>
            <a:ext cx="9875520" cy="27432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A4B4CA"/>
                </a:solidFill>
                <a:latin typeface="Aptos"/>
              </a:defRPr>
            </a:pPr>
            <a:r>
              <a:t>What the system observes and how it interacts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457200" cy="16459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A4B4C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92240"/>
            <a:ext cx="8229600" cy="16459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A4B4CA"/>
                </a:solidFill>
                <a:latin typeface="Aptos"/>
              </a:defRPr>
            </a:pPr>
            <a:r>
              <a:t>Adaptive Curriculum Learning • MiniGrid MultiRoom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3520440" cy="2057400"/>
          </a:xfrm>
          <a:prstGeom prst="roundRect">
            <a:avLst/>
          </a:prstGeom>
          <a:solidFill>
            <a:srgbClr val="192745"/>
          </a:solidFill>
          <a:ln>
            <a:solidFill>
              <a:srgbClr val="36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234440"/>
            <a:ext cx="64008" cy="2057400"/>
          </a:xfrm>
          <a:prstGeom prst="rect">
            <a:avLst/>
          </a:prstGeom>
          <a:solidFill>
            <a:srgbClr val="2C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362456"/>
            <a:ext cx="3154680" cy="34747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CC2B2"/>
                </a:solidFill>
                <a:latin typeface="Aptos"/>
              </a:defRPr>
            </a:pPr>
            <a:r>
              <a:t>MINIGRID MULTIROOM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764792"/>
            <a:ext cx="3154680" cy="1435607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F7F9FC"/>
                </a:solidFill>
                <a:latin typeface="Aptos"/>
              </a:defRPr>
            </a:pPr>
            <a:r>
              <a:t>A procedurally generated grid environment with connected rooms, walls, a starting position, and a goal.</a:t>
            </a:r>
          </a:p>
          <a:p>
            <a:pPr>
              <a:spcAft>
                <a:spcPts val="500"/>
              </a:spcAft>
              <a:defRPr sz="1200" b="0">
                <a:solidFill>
                  <a:srgbClr val="F7F9FC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200" b="0">
                <a:solidFill>
                  <a:srgbClr val="F7F9FC"/>
                </a:solidFill>
                <a:latin typeface="Aptos"/>
              </a:defRPr>
            </a:pPr>
            <a:r>
              <a:t>The layout can vary across resets. Room count and room-size settings can be configured to create different task difficulties.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234440"/>
            <a:ext cx="3520440" cy="2057400"/>
          </a:xfrm>
          <a:prstGeom prst="roundRect">
            <a:avLst/>
          </a:prstGeom>
          <a:solidFill>
            <a:srgbClr val="192745"/>
          </a:solidFill>
          <a:ln>
            <a:solidFill>
              <a:srgbClr val="36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234440"/>
            <a:ext cx="64008" cy="2057400"/>
          </a:xfrm>
          <a:prstGeom prst="rect">
            <a:avLst/>
          </a:prstGeom>
          <a:solidFill>
            <a:srgbClr val="70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362456"/>
            <a:ext cx="3154680" cy="34747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70D2E1"/>
                </a:solidFill>
                <a:latin typeface="Aptos"/>
              </a:defRPr>
            </a:pPr>
            <a:r>
              <a:t>PPO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1764792"/>
            <a:ext cx="3154680" cy="1435607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F7F9FC"/>
                </a:solidFill>
                <a:latin typeface="Aptos"/>
              </a:defRPr>
            </a:pPr>
            <a:r>
              <a:t>Proximal Policy Optimization (PPO) is the reinforcement-learning algorithm selected for this project.</a:t>
            </a:r>
          </a:p>
          <a:p>
            <a:pPr>
              <a:spcAft>
                <a:spcPts val="500"/>
              </a:spcAft>
              <a:defRPr sz="1200" b="0">
                <a:solidFill>
                  <a:srgbClr val="F7F9FC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200" b="0">
                <a:solidFill>
                  <a:srgbClr val="F7F9FC"/>
                </a:solidFill>
                <a:latin typeface="Aptos"/>
              </a:defRPr>
            </a:pPr>
            <a:r>
              <a:t>It learns a policy from experience: observations, chosen actions, rewards, and the next observations. The current initial run has not yet learned reliable navigation.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234440"/>
            <a:ext cx="3520440" cy="2057400"/>
          </a:xfrm>
          <a:prstGeom prst="roundRect">
            <a:avLst/>
          </a:prstGeom>
          <a:solidFill>
            <a:srgbClr val="192745"/>
          </a:solidFill>
          <a:ln>
            <a:solidFill>
              <a:srgbClr val="36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1000" y="1234440"/>
            <a:ext cx="64008" cy="2057400"/>
          </a:xfrm>
          <a:prstGeom prst="rect">
            <a:avLst/>
          </a:prstGeom>
          <a:solidFill>
            <a:srgbClr val="FFB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2168" y="1362456"/>
            <a:ext cx="3154680" cy="34747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FB25C"/>
                </a:solidFill>
                <a:latin typeface="Aptos"/>
              </a:defRPr>
            </a:pPr>
            <a:r>
              <a:t>DEVELOPMENT 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2168" y="1764792"/>
            <a:ext cx="3154680" cy="1435607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F7F9FC"/>
                </a:solidFill>
                <a:latin typeface="Aptos"/>
              </a:defRPr>
            </a:pPr>
            <a:r>
              <a:t>Python and Jupyter Notebook are used to run experiments. Gymnasium provides the environment interface, MiniGrid provides the rooms, and Stable-Baselines3/PyTorch provide the PPO implementation and model tools.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611880"/>
            <a:ext cx="4937760" cy="32004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CC2B2"/>
                </a:solidFill>
                <a:latin typeface="Aptos"/>
              </a:defRPr>
            </a:pPr>
            <a:r>
              <a:t>Agent interaction cycle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4078224"/>
            <a:ext cx="100584" cy="100584"/>
          </a:xfrm>
          <a:prstGeom prst="ellipse">
            <a:avLst/>
          </a:prstGeom>
          <a:solidFill>
            <a:srgbClr val="2C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33856" y="3977639"/>
            <a:ext cx="4937760" cy="612648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F7F9FC"/>
                </a:solidFill>
                <a:latin typeface="Aptos"/>
              </a:defRPr>
            </a:pPr>
            <a:r>
              <a:t>Receives an observation, including a local image and direction information.</a:t>
            </a:r>
          </a:p>
        </p:txBody>
      </p:sp>
      <p:sp>
        <p:nvSpPr>
          <p:cNvPr id="22" name="Oval 21"/>
          <p:cNvSpPr/>
          <p:nvPr/>
        </p:nvSpPr>
        <p:spPr>
          <a:xfrm>
            <a:off x="914400" y="4690872"/>
            <a:ext cx="100584" cy="100584"/>
          </a:xfrm>
          <a:prstGeom prst="ellipse">
            <a:avLst/>
          </a:prstGeom>
          <a:solidFill>
            <a:srgbClr val="2C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33856" y="4590288"/>
            <a:ext cx="4937760" cy="612648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F7F9FC"/>
                </a:solidFill>
                <a:latin typeface="Aptos"/>
              </a:defRPr>
            </a:pPr>
            <a:r>
              <a:t>Chooses one of the environment's discrete actions, such as turn or move forward.</a:t>
            </a:r>
          </a:p>
        </p:txBody>
      </p:sp>
      <p:sp>
        <p:nvSpPr>
          <p:cNvPr id="24" name="Oval 23"/>
          <p:cNvSpPr/>
          <p:nvPr/>
        </p:nvSpPr>
        <p:spPr>
          <a:xfrm>
            <a:off x="914400" y="5303520"/>
            <a:ext cx="100584" cy="100584"/>
          </a:xfrm>
          <a:prstGeom prst="ellipse">
            <a:avLst/>
          </a:prstGeom>
          <a:solidFill>
            <a:srgbClr val="2C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33856" y="5202936"/>
            <a:ext cx="4937760" cy="612648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F7F9FC"/>
                </a:solidFill>
                <a:latin typeface="Aptos"/>
              </a:defRPr>
            </a:pPr>
            <a:r>
              <a:t>Receives reward and a new observation; an episode ends at success or timeout.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611880"/>
            <a:ext cx="4937760" cy="32004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CC2B2"/>
                </a:solidFill>
                <a:latin typeface="Aptos"/>
              </a:defRPr>
            </a:pPr>
            <a:r>
              <a:t>Configurable environment properties</a:t>
            </a:r>
          </a:p>
        </p:txBody>
      </p:sp>
      <p:sp>
        <p:nvSpPr>
          <p:cNvPr id="27" name="Oval 26"/>
          <p:cNvSpPr/>
          <p:nvPr/>
        </p:nvSpPr>
        <p:spPr>
          <a:xfrm>
            <a:off x="6400800" y="4078224"/>
            <a:ext cx="100584" cy="100584"/>
          </a:xfrm>
          <a:prstGeom prst="ellipse">
            <a:avLst/>
          </a:prstGeom>
          <a:solidFill>
            <a:srgbClr val="FFB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0256" y="3977639"/>
            <a:ext cx="4800600" cy="612648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F7F9FC"/>
                </a:solidFill>
                <a:latin typeface="Aptos"/>
              </a:defRPr>
            </a:pPr>
            <a:r>
              <a:t>Room count and room-size settings can change task complexity.</a:t>
            </a:r>
          </a:p>
        </p:txBody>
      </p:sp>
      <p:sp>
        <p:nvSpPr>
          <p:cNvPr id="29" name="Oval 28"/>
          <p:cNvSpPr/>
          <p:nvPr/>
        </p:nvSpPr>
        <p:spPr>
          <a:xfrm>
            <a:off x="6400800" y="4690872"/>
            <a:ext cx="100584" cy="100584"/>
          </a:xfrm>
          <a:prstGeom prst="ellipse">
            <a:avLst/>
          </a:prstGeom>
          <a:solidFill>
            <a:srgbClr val="FFB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0256" y="4590288"/>
            <a:ext cx="4800600" cy="612648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F7F9FC"/>
                </a:solidFill>
                <a:latin typeface="Aptos"/>
              </a:defRPr>
            </a:pPr>
            <a:r>
              <a:t>Map dimensions control the grid dimensions; display size only changes visualization.</a:t>
            </a:r>
          </a:p>
        </p:txBody>
      </p:sp>
      <p:sp>
        <p:nvSpPr>
          <p:cNvPr id="31" name="Oval 30"/>
          <p:cNvSpPr/>
          <p:nvPr/>
        </p:nvSpPr>
        <p:spPr>
          <a:xfrm>
            <a:off x="6400800" y="5303520"/>
            <a:ext cx="100584" cy="100584"/>
          </a:xfrm>
          <a:prstGeom prst="ellipse">
            <a:avLst/>
          </a:prstGeom>
          <a:solidFill>
            <a:srgbClr val="FFB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0256" y="5202936"/>
            <a:ext cx="4800600" cy="612648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F7F9FC"/>
                </a:solidFill>
                <a:latin typeface="Aptos"/>
              </a:defRPr>
            </a:pPr>
            <a:r>
              <a:t>The observation window controls the amount of local visual input; walls can occlude visibility.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D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0292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7F9FC"/>
                </a:solidFill>
                <a:latin typeface="Aptos"/>
              </a:defRPr>
            </a:pPr>
            <a:r>
              <a:t>3. How the proposed system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896112"/>
            <a:ext cx="777240" cy="50292"/>
          </a:xfrm>
          <a:prstGeom prst="rect">
            <a:avLst/>
          </a:prstGeom>
          <a:solidFill>
            <a:srgbClr val="2C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8760" y="804672"/>
            <a:ext cx="9875520" cy="27432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A4B4CA"/>
                </a:solidFill>
                <a:latin typeface="Aptos"/>
              </a:defRPr>
            </a:pPr>
            <a:r>
              <a:t>The intended feedback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457200" cy="16459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A4B4CA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92240"/>
            <a:ext cx="8229600" cy="16459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A4B4CA"/>
                </a:solidFill>
                <a:latin typeface="Aptos"/>
              </a:defRPr>
            </a:pPr>
            <a:r>
              <a:t>Adaptive Curriculum Learning • MiniGrid MultiRoom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45920"/>
            <a:ext cx="1691640" cy="2560320"/>
          </a:xfrm>
          <a:prstGeom prst="roundRect">
            <a:avLst/>
          </a:prstGeom>
          <a:solidFill>
            <a:srgbClr val="192745"/>
          </a:solidFill>
          <a:ln>
            <a:solidFill>
              <a:srgbClr val="36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645920"/>
            <a:ext cx="64008" cy="2560320"/>
          </a:xfrm>
          <a:prstGeom prst="rect">
            <a:avLst/>
          </a:prstGeom>
          <a:solidFill>
            <a:srgbClr val="2C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773936"/>
            <a:ext cx="1325880" cy="34747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CC2B2"/>
                </a:solidFill>
                <a:latin typeface="Aptos"/>
              </a:defRPr>
            </a:pPr>
            <a:r>
              <a:t>1. OBSERVE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176272"/>
            <a:ext cx="1325880" cy="1938527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F7F9FC"/>
                </a:solidFill>
                <a:latin typeface="Aptos"/>
              </a:defRPr>
            </a:pPr>
            <a:r>
              <a:t>The agent receives the current MiniGrid observation, not necessarily the whole map.</a:t>
            </a:r>
          </a:p>
        </p:txBody>
      </p:sp>
      <p:sp>
        <p:nvSpPr>
          <p:cNvPr id="11" name="Chevron 10"/>
          <p:cNvSpPr/>
          <p:nvPr/>
        </p:nvSpPr>
        <p:spPr>
          <a:xfrm>
            <a:off x="2377440" y="2606040"/>
            <a:ext cx="411480" cy="457200"/>
          </a:xfrm>
          <a:prstGeom prst="chevron">
            <a:avLst/>
          </a:prstGeom>
          <a:solidFill>
            <a:srgbClr val="2C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26080" y="1645920"/>
            <a:ext cx="1691640" cy="2560320"/>
          </a:xfrm>
          <a:prstGeom prst="roundRect">
            <a:avLst/>
          </a:prstGeom>
          <a:solidFill>
            <a:srgbClr val="192745"/>
          </a:solidFill>
          <a:ln>
            <a:solidFill>
              <a:srgbClr val="36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26080" y="1645920"/>
            <a:ext cx="64008" cy="2560320"/>
          </a:xfrm>
          <a:prstGeom prst="rect">
            <a:avLst/>
          </a:prstGeom>
          <a:solidFill>
            <a:srgbClr val="70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27248" y="1773936"/>
            <a:ext cx="1325880" cy="34747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70D2E1"/>
                </a:solidFill>
                <a:latin typeface="Aptos"/>
              </a:defRPr>
            </a:pPr>
            <a:r>
              <a:t>2. 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27248" y="2176272"/>
            <a:ext cx="1325880" cy="1938527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F7F9FC"/>
                </a:solidFill>
                <a:latin typeface="Aptos"/>
              </a:defRPr>
            </a:pPr>
            <a:r>
              <a:t>The PPO policy selects an action based on what it has learned.</a:t>
            </a:r>
          </a:p>
        </p:txBody>
      </p:sp>
      <p:sp>
        <p:nvSpPr>
          <p:cNvPr id="16" name="Chevron 15"/>
          <p:cNvSpPr/>
          <p:nvPr/>
        </p:nvSpPr>
        <p:spPr>
          <a:xfrm>
            <a:off x="4709160" y="2606040"/>
            <a:ext cx="411480" cy="457200"/>
          </a:xfrm>
          <a:prstGeom prst="chevron">
            <a:avLst/>
          </a:prstGeom>
          <a:solidFill>
            <a:srgbClr val="2C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257800" y="1645920"/>
            <a:ext cx="1691640" cy="2560320"/>
          </a:xfrm>
          <a:prstGeom prst="roundRect">
            <a:avLst/>
          </a:prstGeom>
          <a:solidFill>
            <a:srgbClr val="192745"/>
          </a:solidFill>
          <a:ln>
            <a:solidFill>
              <a:srgbClr val="36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257800" y="1645920"/>
            <a:ext cx="64008" cy="2560320"/>
          </a:xfrm>
          <a:prstGeom prst="rect">
            <a:avLst/>
          </a:prstGeom>
          <a:solidFill>
            <a:srgbClr val="FFB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58968" y="1773936"/>
            <a:ext cx="1325880" cy="34747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FB25C"/>
                </a:solidFill>
                <a:latin typeface="Aptos"/>
              </a:defRPr>
            </a:pPr>
            <a:r>
              <a:t>3. RECEIVE FEEDBACK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58968" y="2176272"/>
            <a:ext cx="1325880" cy="1938527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F7F9FC"/>
                </a:solidFill>
                <a:latin typeface="Aptos"/>
              </a:defRPr>
            </a:pPr>
            <a:r>
              <a:t>MiniGrid returns a reward, next observation, and episode status.</a:t>
            </a:r>
          </a:p>
        </p:txBody>
      </p:sp>
      <p:sp>
        <p:nvSpPr>
          <p:cNvPr id="21" name="Chevron 20"/>
          <p:cNvSpPr/>
          <p:nvPr/>
        </p:nvSpPr>
        <p:spPr>
          <a:xfrm>
            <a:off x="7040880" y="2606040"/>
            <a:ext cx="411480" cy="457200"/>
          </a:xfrm>
          <a:prstGeom prst="chevron">
            <a:avLst/>
          </a:prstGeom>
          <a:solidFill>
            <a:srgbClr val="2C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589520" y="1645920"/>
            <a:ext cx="1691640" cy="2560320"/>
          </a:xfrm>
          <a:prstGeom prst="roundRect">
            <a:avLst/>
          </a:prstGeom>
          <a:solidFill>
            <a:srgbClr val="192745"/>
          </a:solidFill>
          <a:ln>
            <a:solidFill>
              <a:srgbClr val="36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89520" y="1645920"/>
            <a:ext cx="64008" cy="2560320"/>
          </a:xfrm>
          <a:prstGeom prst="rect">
            <a:avLst/>
          </a:prstGeom>
          <a:solidFill>
            <a:srgbClr val="75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90688" y="1773936"/>
            <a:ext cx="1325880" cy="34747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75D399"/>
                </a:solidFill>
                <a:latin typeface="Aptos"/>
              </a:defRPr>
            </a:pPr>
            <a:r>
              <a:t>4. MEASURE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90688" y="2176272"/>
            <a:ext cx="1325880" cy="1938527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F7F9FC"/>
                </a:solidFill>
                <a:latin typeface="Aptos"/>
              </a:defRPr>
            </a:pPr>
            <a:r>
              <a:t>Evaluation code tracks success rate, reward, and steps across episodes.</a:t>
            </a:r>
          </a:p>
        </p:txBody>
      </p:sp>
      <p:sp>
        <p:nvSpPr>
          <p:cNvPr id="26" name="Chevron 25"/>
          <p:cNvSpPr/>
          <p:nvPr/>
        </p:nvSpPr>
        <p:spPr>
          <a:xfrm>
            <a:off x="9372600" y="2606040"/>
            <a:ext cx="411480" cy="457200"/>
          </a:xfrm>
          <a:prstGeom prst="chevron">
            <a:avLst/>
          </a:prstGeom>
          <a:solidFill>
            <a:srgbClr val="2C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921240" y="1645920"/>
            <a:ext cx="1691640" cy="2560320"/>
          </a:xfrm>
          <a:prstGeom prst="roundRect">
            <a:avLst/>
          </a:prstGeom>
          <a:solidFill>
            <a:srgbClr val="192745"/>
          </a:solidFill>
          <a:ln>
            <a:solidFill>
              <a:srgbClr val="36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921240" y="1645920"/>
            <a:ext cx="64008" cy="2560320"/>
          </a:xfrm>
          <a:prstGeom prst="rect">
            <a:avLst/>
          </a:prstGeom>
          <a:solidFill>
            <a:srgbClr val="2C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22408" y="1773936"/>
            <a:ext cx="1325880" cy="34747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CC2B2"/>
                </a:solidFill>
                <a:latin typeface="Aptos"/>
              </a:defRPr>
            </a:pPr>
            <a:r>
              <a:t>5. ADAPT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22408" y="2176272"/>
            <a:ext cx="1325880" cy="1938527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F7F9FC"/>
                </a:solidFill>
                <a:latin typeface="Aptos"/>
              </a:defRPr>
            </a:pPr>
            <a:r>
              <a:t>The Curriculum Manager will hold the level or advance to a harder room configuration.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572000"/>
            <a:ext cx="10424160" cy="6400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CC2B2"/>
                </a:solidFill>
                <a:latin typeface="Aptos"/>
              </a:defRPr>
            </a:pPr>
            <a:r>
              <a:t>Proposed progression: 2 rooms → 4 rooms → 6 rooms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166360"/>
            <a:ext cx="10332720" cy="68580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FFB25C"/>
                </a:solidFill>
                <a:latin typeface="Aptos"/>
              </a:defRPr>
            </a:pPr>
            <a:r>
              <a:t>The feedback loop describes the target design. The adaptive manager and its readiness rule have not yet been implemented, so this is not presented as a completed feature.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D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0292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7F9FC"/>
                </a:solidFill>
                <a:latin typeface="Aptos"/>
              </a:defRPr>
            </a:pPr>
            <a:r>
              <a:t>4. Work completed so far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896112"/>
            <a:ext cx="777240" cy="50292"/>
          </a:xfrm>
          <a:prstGeom prst="rect">
            <a:avLst/>
          </a:prstGeom>
          <a:solidFill>
            <a:srgbClr val="2C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8760" y="804672"/>
            <a:ext cx="9875520" cy="27432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A4B4CA"/>
                </a:solidFill>
                <a:latin typeface="Aptos"/>
              </a:defRPr>
            </a:pPr>
            <a:r>
              <a:t>What has been explored and what the results mean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457200" cy="16459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A4B4CA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92240"/>
            <a:ext cx="8229600" cy="16459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A4B4CA"/>
                </a:solidFill>
                <a:latin typeface="Aptos"/>
              </a:defRPr>
            </a:pPr>
            <a:r>
              <a:t>Adaptive Curriculum Learning • MiniGrid MultiRoom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5349240" cy="1645920"/>
          </a:xfrm>
          <a:prstGeom prst="roundRect">
            <a:avLst/>
          </a:prstGeom>
          <a:solidFill>
            <a:srgbClr val="192745"/>
          </a:solidFill>
          <a:ln>
            <a:solidFill>
              <a:srgbClr val="36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234440"/>
            <a:ext cx="64008" cy="1645920"/>
          </a:xfrm>
          <a:prstGeom prst="rect">
            <a:avLst/>
          </a:prstGeom>
          <a:solidFill>
            <a:srgbClr val="75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362456"/>
            <a:ext cx="4983479" cy="34747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75D399"/>
                </a:solidFill>
                <a:latin typeface="Aptos"/>
              </a:defRPr>
            </a:pPr>
            <a:r>
              <a:t>ENVIRONMENT VISUALIZATION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764792"/>
            <a:ext cx="4983479" cy="1024128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F7F9FC"/>
                </a:solidFill>
                <a:latin typeface="Aptos"/>
              </a:defRPr>
            </a:pPr>
            <a:r>
              <a:t>Ran MiniGrid MultiRoom in Jupyter Notebook and examined the generated map, room-size settings, grid dimensions, and display scaling.</a:t>
            </a:r>
          </a:p>
          <a:p>
            <a:pPr>
              <a:spcAft>
                <a:spcPts val="500"/>
              </a:spcAft>
              <a:defRPr sz="1200" b="0">
                <a:solidFill>
                  <a:srgbClr val="F7F9FC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200" b="0">
                <a:solidFill>
                  <a:srgbClr val="F7F9FC"/>
                </a:solidFill>
                <a:latin typeface="Aptos"/>
              </a:defRPr>
            </a:pPr>
            <a:r>
              <a:t>Also inspected the agent's local observation and how wall layout affects visibility.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34440"/>
            <a:ext cx="5257800" cy="1645920"/>
          </a:xfrm>
          <a:prstGeom prst="roundRect">
            <a:avLst/>
          </a:prstGeom>
          <a:solidFill>
            <a:srgbClr val="192745"/>
          </a:solidFill>
          <a:ln>
            <a:solidFill>
              <a:srgbClr val="36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234440"/>
            <a:ext cx="64008" cy="1645920"/>
          </a:xfrm>
          <a:prstGeom prst="rect">
            <a:avLst/>
          </a:prstGeom>
          <a:solidFill>
            <a:srgbClr val="70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362456"/>
            <a:ext cx="4892040" cy="34747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70D2E1"/>
                </a:solidFill>
                <a:latin typeface="Aptos"/>
              </a:defRPr>
            </a:pPr>
            <a:r>
              <a:t>RESET AND RANDOM SEEDS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764792"/>
            <a:ext cx="4892040" cy="1024128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F7F9FC"/>
                </a:solidFill>
                <a:latin typeface="Aptos"/>
              </a:defRPr>
            </a:pPr>
            <a:r>
              <a:t>Tested environment resets and reviewed how a seed can reproduce randomized setup conditions.</a:t>
            </a:r>
          </a:p>
          <a:p>
            <a:pPr>
              <a:spcAft>
                <a:spcPts val="500"/>
              </a:spcAft>
              <a:defRPr sz="1200" b="0">
                <a:solidFill>
                  <a:srgbClr val="F7F9FC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200" b="0">
                <a:solidFill>
                  <a:srgbClr val="F7F9FC"/>
                </a:solidFill>
                <a:latin typeface="Aptos"/>
              </a:defRPr>
            </a:pPr>
            <a:r>
              <a:t>The environment determines the initial placement and orientation; PPO does not choose its own starting position.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154680"/>
            <a:ext cx="5349240" cy="1645920"/>
          </a:xfrm>
          <a:prstGeom prst="roundRect">
            <a:avLst/>
          </a:prstGeom>
          <a:solidFill>
            <a:srgbClr val="192745"/>
          </a:solidFill>
          <a:ln>
            <a:solidFill>
              <a:srgbClr val="36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3154680"/>
            <a:ext cx="64008" cy="1645920"/>
          </a:xfrm>
          <a:prstGeom prst="rect">
            <a:avLst/>
          </a:prstGeom>
          <a:solidFill>
            <a:srgbClr val="2C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3282696"/>
            <a:ext cx="4983479" cy="34747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CC2B2"/>
                </a:solidFill>
                <a:latin typeface="Aptos"/>
              </a:defRPr>
            </a:pPr>
            <a:r>
              <a:t>ENVIRONMENT AND NAVIGATION TESTING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3685032"/>
            <a:ext cx="4983479" cy="1024128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F7F9FC"/>
                </a:solidFill>
                <a:latin typeface="Aptos"/>
              </a:defRPr>
            </a:pPr>
            <a:r>
              <a:t>Explored navigation behavior in the MultiRoom environment and inspected how routes connect rooms and doors.</a:t>
            </a:r>
          </a:p>
          <a:p>
            <a:pPr>
              <a:spcAft>
                <a:spcPts val="500"/>
              </a:spcAft>
              <a:defRPr sz="1200" b="0">
                <a:solidFill>
                  <a:srgbClr val="F7F9FC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200" b="0">
                <a:solidFill>
                  <a:srgbClr val="F7F9FC"/>
                </a:solidFill>
                <a:latin typeface="Aptos"/>
              </a:defRPr>
            </a:pPr>
            <a:r>
              <a:t>This exploration is separate from PPO training and does not demonstrate that the agent has learned a navigation policy.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154680"/>
            <a:ext cx="5257800" cy="1645920"/>
          </a:xfrm>
          <a:prstGeom prst="roundRect">
            <a:avLst/>
          </a:prstGeom>
          <a:solidFill>
            <a:srgbClr val="192745"/>
          </a:solidFill>
          <a:ln>
            <a:solidFill>
              <a:srgbClr val="36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154680"/>
            <a:ext cx="64008" cy="1645920"/>
          </a:xfrm>
          <a:prstGeom prst="rect">
            <a:avLst/>
          </a:prstGeom>
          <a:solidFill>
            <a:srgbClr val="FFB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3282696"/>
            <a:ext cx="4892040" cy="34747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FB25C"/>
                </a:solidFill>
                <a:latin typeface="Aptos"/>
              </a:defRPr>
            </a:pPr>
            <a:r>
              <a:t>INITIAL PPO EXPERIMENT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3685032"/>
            <a:ext cx="4892040" cy="1024128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F7F9FC"/>
                </a:solidFill>
                <a:latin typeface="Aptos"/>
              </a:defRPr>
            </a:pPr>
            <a:r>
              <a:t>A short PPO training run of 10,000 timesteps was attempted.</a:t>
            </a:r>
          </a:p>
          <a:p>
            <a:pPr>
              <a:spcAft>
                <a:spcPts val="500"/>
              </a:spcAft>
              <a:defRPr sz="1200" b="0">
                <a:solidFill>
                  <a:srgbClr val="F7F9FC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200" b="0">
                <a:solidFill>
                  <a:srgbClr val="F7F9FC"/>
                </a:solidFill>
                <a:latin typeface="Aptos"/>
              </a:defRPr>
            </a:pPr>
            <a:r>
              <a:t>The agent did not yet show reliable goal navigation. This is a current limitation and the next technical priority, not a successful learning result.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303520"/>
            <a:ext cx="10515600" cy="6400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F47878"/>
                </a:solidFill>
                <a:latin typeface="Aptos"/>
              </a:defRPr>
            </a:pPr>
            <a:r>
              <a:t>Still pending: reliable PPO baseline, adaptive Curriculum Manager, systematic comparisons, and final measured results.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D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0292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7F9FC"/>
                </a:solidFill>
                <a:latin typeface="Aptos"/>
              </a:defRPr>
            </a:pPr>
            <a:r>
              <a:t>5. Proposed curriculum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896112"/>
            <a:ext cx="777240" cy="50292"/>
          </a:xfrm>
          <a:prstGeom prst="rect">
            <a:avLst/>
          </a:prstGeom>
          <a:solidFill>
            <a:srgbClr val="2C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8760" y="804672"/>
            <a:ext cx="9875520" cy="27432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A4B4CA"/>
                </a:solidFill>
                <a:latin typeface="Aptos"/>
              </a:defRPr>
            </a:pPr>
            <a:r>
              <a:t>Progressively increase the number of rooms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457200" cy="16459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A4B4CA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92240"/>
            <a:ext cx="8229600" cy="16459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A4B4CA"/>
                </a:solidFill>
                <a:latin typeface="Aptos"/>
              </a:defRPr>
            </a:pPr>
            <a:r>
              <a:t>Adaptive Curriculum Learning • MiniGrid MultiRoom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474720" cy="2011680"/>
          </a:xfrm>
          <a:prstGeom prst="roundRect">
            <a:avLst/>
          </a:prstGeom>
          <a:solidFill>
            <a:srgbClr val="192745"/>
          </a:solidFill>
          <a:ln>
            <a:solidFill>
              <a:srgbClr val="36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25880"/>
            <a:ext cx="64008" cy="2011680"/>
          </a:xfrm>
          <a:prstGeom prst="rect">
            <a:avLst/>
          </a:prstGeom>
          <a:solidFill>
            <a:srgbClr val="2C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453895"/>
            <a:ext cx="3108960" cy="34747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CC2B2"/>
                </a:solidFill>
                <a:latin typeface="Aptos"/>
              </a:defRPr>
            </a:pPr>
            <a:r>
              <a:t>LEVEL 1 — 2 ROOMS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856231"/>
            <a:ext cx="3108960" cy="1389888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F7F9FC"/>
                </a:solidFill>
                <a:latin typeface="Aptos"/>
              </a:defRPr>
            </a:pPr>
            <a:r>
              <a:t>Begin with a simpler layout so the agent can practice basic movement and reaching a goal.</a:t>
            </a:r>
          </a:p>
          <a:p>
            <a:pPr>
              <a:spcAft>
                <a:spcPts val="500"/>
              </a:spcAft>
              <a:defRPr sz="1300" b="0">
                <a:solidFill>
                  <a:srgbClr val="F7F9FC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300" b="0">
                <a:solidFill>
                  <a:srgbClr val="F7F9FC"/>
                </a:solidFill>
                <a:latin typeface="Aptos"/>
              </a:defRPr>
            </a:pPr>
            <a:r>
              <a:t>Measure success over evaluation episodes before deciding whether to increase difficulty.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325880"/>
            <a:ext cx="3474720" cy="2011680"/>
          </a:xfrm>
          <a:prstGeom prst="roundRect">
            <a:avLst/>
          </a:prstGeom>
          <a:solidFill>
            <a:srgbClr val="192745"/>
          </a:solidFill>
          <a:ln>
            <a:solidFill>
              <a:srgbClr val="36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325880"/>
            <a:ext cx="64008" cy="2011680"/>
          </a:xfrm>
          <a:prstGeom prst="rect">
            <a:avLst/>
          </a:prstGeom>
          <a:solidFill>
            <a:srgbClr val="70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453895"/>
            <a:ext cx="3108960" cy="34747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70D2E1"/>
                </a:solidFill>
                <a:latin typeface="Aptos"/>
              </a:defRPr>
            </a:pPr>
            <a:r>
              <a:t>LEVEL 2 — 4 ROOMS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856231"/>
            <a:ext cx="3108960" cy="1389888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F7F9FC"/>
                </a:solidFill>
                <a:latin typeface="Aptos"/>
              </a:defRPr>
            </a:pPr>
            <a:r>
              <a:t>Introduce a longer route and more connected spaces after the readiness condition is met.</a:t>
            </a:r>
          </a:p>
          <a:p>
            <a:pPr>
              <a:spcAft>
                <a:spcPts val="500"/>
              </a:spcAft>
              <a:defRPr sz="1300" b="0">
                <a:solidFill>
                  <a:srgbClr val="F7F9FC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300" b="0">
                <a:solidFill>
                  <a:srgbClr val="F7F9FC"/>
                </a:solidFill>
                <a:latin typeface="Aptos"/>
              </a:defRPr>
            </a:pPr>
            <a:r>
              <a:t>Continue measuring success and reward to check whether the agent can handle the added complexity.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325880"/>
            <a:ext cx="3474720" cy="2011680"/>
          </a:xfrm>
          <a:prstGeom prst="roundRect">
            <a:avLst/>
          </a:prstGeom>
          <a:solidFill>
            <a:srgbClr val="192745"/>
          </a:solidFill>
          <a:ln>
            <a:solidFill>
              <a:srgbClr val="36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1000" y="1325880"/>
            <a:ext cx="64008" cy="2011680"/>
          </a:xfrm>
          <a:prstGeom prst="rect">
            <a:avLst/>
          </a:prstGeom>
          <a:solidFill>
            <a:srgbClr val="FFB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2168" y="1453895"/>
            <a:ext cx="3108960" cy="34747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FB25C"/>
                </a:solidFill>
                <a:latin typeface="Aptos"/>
              </a:defRPr>
            </a:pPr>
            <a:r>
              <a:t>LEVEL 3 — 6 ROOMS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2168" y="1856231"/>
            <a:ext cx="3108960" cy="1389888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F7F9FC"/>
                </a:solidFill>
                <a:latin typeface="Aptos"/>
              </a:defRPr>
            </a:pPr>
            <a:r>
              <a:t>Use a more complex layout to test whether the agent can navigate a harder task.</a:t>
            </a:r>
          </a:p>
          <a:p>
            <a:pPr>
              <a:spcAft>
                <a:spcPts val="500"/>
              </a:spcAft>
              <a:defRPr sz="1300" b="0">
                <a:solidFill>
                  <a:srgbClr val="F7F9FC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300" b="0">
                <a:solidFill>
                  <a:srgbClr val="F7F9FC"/>
                </a:solidFill>
                <a:latin typeface="Aptos"/>
              </a:defRPr>
            </a:pPr>
            <a:r>
              <a:t>Evaluate final performance and compare it with the baseline approaches.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794760"/>
            <a:ext cx="10424160" cy="32004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CC2B2"/>
                </a:solidFill>
                <a:latin typeface="Aptos"/>
              </a:defRPr>
            </a:pPr>
            <a:r>
              <a:t>How readiness may be decided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4261104"/>
            <a:ext cx="100584" cy="100584"/>
          </a:xfrm>
          <a:prstGeom prst="ellipse">
            <a:avLst/>
          </a:prstGeom>
          <a:solidFill>
            <a:srgbClr val="2C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33856" y="4160520"/>
            <a:ext cx="10104120" cy="54864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F7F9FC"/>
                </a:solidFill>
                <a:latin typeface="Aptos"/>
              </a:defRPr>
            </a:pPr>
            <a:r>
              <a:t>Use success rate over a fixed window of evaluation episodes as the primary signal.</a:t>
            </a:r>
          </a:p>
        </p:txBody>
      </p:sp>
      <p:sp>
        <p:nvSpPr>
          <p:cNvPr id="22" name="Oval 21"/>
          <p:cNvSpPr/>
          <p:nvPr/>
        </p:nvSpPr>
        <p:spPr>
          <a:xfrm>
            <a:off x="914400" y="4809744"/>
            <a:ext cx="100584" cy="100584"/>
          </a:xfrm>
          <a:prstGeom prst="ellipse">
            <a:avLst/>
          </a:prstGeom>
          <a:solidFill>
            <a:srgbClr val="2C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33856" y="4709159"/>
            <a:ext cx="10104120" cy="54864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F7F9FC"/>
                </a:solidFill>
                <a:latin typeface="Aptos"/>
              </a:defRPr>
            </a:pPr>
            <a:r>
              <a:t>Use average reward and steps as supporting measures of progress.</a:t>
            </a:r>
          </a:p>
        </p:txBody>
      </p:sp>
      <p:sp>
        <p:nvSpPr>
          <p:cNvPr id="24" name="Oval 23"/>
          <p:cNvSpPr/>
          <p:nvPr/>
        </p:nvSpPr>
        <p:spPr>
          <a:xfrm>
            <a:off x="914400" y="5358384"/>
            <a:ext cx="100584" cy="100584"/>
          </a:xfrm>
          <a:prstGeom prst="ellipse">
            <a:avLst/>
          </a:prstGeom>
          <a:solidFill>
            <a:srgbClr val="2C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33856" y="5257800"/>
            <a:ext cx="10104120" cy="54864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F7F9FC"/>
                </a:solidFill>
                <a:latin typeface="Aptos"/>
              </a:defRPr>
            </a:pPr>
            <a:r>
              <a:t>Select and test a threshold and require stable performance before advancing; these rules are not implemented yet.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897880"/>
            <a:ext cx="10332720" cy="27432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A4B4CA"/>
                </a:solidFill>
                <a:latin typeface="Aptos"/>
              </a:defRPr>
            </a:pPr>
            <a:r>
              <a:t>The exact threshold is an experimental design choice, not a result already established.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D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0292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7F9FC"/>
                </a:solidFill>
                <a:latin typeface="Aptos"/>
              </a:defRPr>
            </a:pPr>
            <a:r>
              <a:t>6. How we will evaluate the idea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896112"/>
            <a:ext cx="777240" cy="50292"/>
          </a:xfrm>
          <a:prstGeom prst="rect">
            <a:avLst/>
          </a:prstGeom>
          <a:solidFill>
            <a:srgbClr val="2C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8760" y="804672"/>
            <a:ext cx="9875520" cy="27432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A4B4CA"/>
                </a:solidFill>
                <a:latin typeface="Aptos"/>
              </a:defRPr>
            </a:pPr>
            <a:r>
              <a:t>Compare three training strategies fairly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457200" cy="16459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A4B4CA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92240"/>
            <a:ext cx="8229600" cy="16459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A4B4CA"/>
                </a:solidFill>
                <a:latin typeface="Aptos"/>
              </a:defRPr>
            </a:pPr>
            <a:r>
              <a:t>Adaptive Curriculum Learning • MiniGrid MultiRoom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3520440" cy="2103120"/>
          </a:xfrm>
          <a:prstGeom prst="roundRect">
            <a:avLst/>
          </a:prstGeom>
          <a:solidFill>
            <a:srgbClr val="192745"/>
          </a:solidFill>
          <a:ln>
            <a:solidFill>
              <a:srgbClr val="36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280160"/>
            <a:ext cx="64008" cy="2103120"/>
          </a:xfrm>
          <a:prstGeom prst="rect">
            <a:avLst/>
          </a:prstGeom>
          <a:solidFill>
            <a:srgbClr val="2C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408176"/>
            <a:ext cx="3154680" cy="34747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CC2B2"/>
                </a:solidFill>
                <a:latin typeface="Aptos"/>
              </a:defRPr>
            </a:pPr>
            <a:r>
              <a:t>A. DIRECT PPO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810512"/>
            <a:ext cx="3154680" cy="1481327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F7F9FC"/>
                </a:solidFill>
                <a:latin typeface="Aptos"/>
              </a:defRPr>
            </a:pPr>
            <a:r>
              <a:t>Train PPO on a difficult environment without gradually changing the task.</a:t>
            </a:r>
          </a:p>
          <a:p>
            <a:pPr>
              <a:spcAft>
                <a:spcPts val="500"/>
              </a:spcAft>
              <a:defRPr sz="1300" b="0">
                <a:solidFill>
                  <a:srgbClr val="F7F9FC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300" b="0">
                <a:solidFill>
                  <a:srgbClr val="F7F9FC"/>
                </a:solidFill>
                <a:latin typeface="Aptos"/>
              </a:defRPr>
            </a:pPr>
            <a:r>
              <a:t>This gives a baseline for understanding how the agent performs without a curriculum.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280160"/>
            <a:ext cx="3520440" cy="2103120"/>
          </a:xfrm>
          <a:prstGeom prst="roundRect">
            <a:avLst/>
          </a:prstGeom>
          <a:solidFill>
            <a:srgbClr val="192745"/>
          </a:solidFill>
          <a:ln>
            <a:solidFill>
              <a:srgbClr val="36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280160"/>
            <a:ext cx="64008" cy="2103120"/>
          </a:xfrm>
          <a:prstGeom prst="rect">
            <a:avLst/>
          </a:prstGeom>
          <a:solidFill>
            <a:srgbClr val="70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408176"/>
            <a:ext cx="3154680" cy="34747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70D2E1"/>
                </a:solidFill>
                <a:latin typeface="Aptos"/>
              </a:defRPr>
            </a:pPr>
            <a:r>
              <a:t>B. FIXED CURRICULUM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1810512"/>
            <a:ext cx="3154680" cy="1481327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F7F9FC"/>
                </a:solidFill>
                <a:latin typeface="Aptos"/>
              </a:defRPr>
            </a:pPr>
            <a:r>
              <a:t>Increase difficulty from 2 to 4 to 6 rooms according to a predefined schedule.</a:t>
            </a:r>
          </a:p>
          <a:p>
            <a:pPr>
              <a:spcAft>
                <a:spcPts val="500"/>
              </a:spcAft>
              <a:defRPr sz="1300" b="0">
                <a:solidFill>
                  <a:srgbClr val="F7F9FC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300" b="0">
                <a:solidFill>
                  <a:srgbClr val="F7F9FC"/>
                </a:solidFill>
                <a:latin typeface="Aptos"/>
              </a:defRPr>
            </a:pPr>
            <a:r>
              <a:t>This tests whether gradual training helps even without adapting to current performance.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1280160"/>
            <a:ext cx="3520440" cy="2103120"/>
          </a:xfrm>
          <a:prstGeom prst="roundRect">
            <a:avLst/>
          </a:prstGeom>
          <a:solidFill>
            <a:srgbClr val="192745"/>
          </a:solidFill>
          <a:ln>
            <a:solidFill>
              <a:srgbClr val="36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55279" y="1280160"/>
            <a:ext cx="64008" cy="2103120"/>
          </a:xfrm>
          <a:prstGeom prst="rect">
            <a:avLst/>
          </a:prstGeom>
          <a:solidFill>
            <a:srgbClr val="FFB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56448" y="1408176"/>
            <a:ext cx="3154680" cy="34747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FB25C"/>
                </a:solidFill>
                <a:latin typeface="Aptos"/>
              </a:defRPr>
            </a:pPr>
            <a:r>
              <a:t>C. ADAPTIVE CURRICULUM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6448" y="1810512"/>
            <a:ext cx="3154680" cy="1481327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F7F9FC"/>
                </a:solidFill>
                <a:latin typeface="Aptos"/>
              </a:defRPr>
            </a:pPr>
            <a:r>
              <a:t>Use the proposed manager to decide when to hold or advance based on evaluation metrics.</a:t>
            </a:r>
          </a:p>
          <a:p>
            <a:pPr>
              <a:spcAft>
                <a:spcPts val="500"/>
              </a:spcAft>
              <a:defRPr sz="1300" b="0">
                <a:solidFill>
                  <a:srgbClr val="F7F9FC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300" b="0">
                <a:solidFill>
                  <a:srgbClr val="F7F9FC"/>
                </a:solidFill>
                <a:latin typeface="Aptos"/>
              </a:defRPr>
            </a:pPr>
            <a:r>
              <a:t>This tests whether performance-driven progression is more effective than a fixed schedule.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840480"/>
            <a:ext cx="10332720" cy="32004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CC2B2"/>
                </a:solidFill>
                <a:latin typeface="Aptos"/>
              </a:defRPr>
            </a:pPr>
            <a:r>
              <a:t>Metrics we plan to record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4306824"/>
            <a:ext cx="100584" cy="100584"/>
          </a:xfrm>
          <a:prstGeom prst="ellipse">
            <a:avLst/>
          </a:prstGeom>
          <a:solidFill>
            <a:srgbClr val="2C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33856" y="4206240"/>
            <a:ext cx="10012680" cy="566928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F7F9FC"/>
                </a:solidFill>
                <a:latin typeface="Aptos"/>
              </a:defRPr>
            </a:pPr>
            <a:r>
              <a:t>Success rate: how often the agent reaches the goal.</a:t>
            </a:r>
          </a:p>
        </p:txBody>
      </p:sp>
      <p:sp>
        <p:nvSpPr>
          <p:cNvPr id="22" name="Oval 21"/>
          <p:cNvSpPr/>
          <p:nvPr/>
        </p:nvSpPr>
        <p:spPr>
          <a:xfrm>
            <a:off x="914400" y="4873752"/>
            <a:ext cx="100584" cy="100584"/>
          </a:xfrm>
          <a:prstGeom prst="ellipse">
            <a:avLst/>
          </a:prstGeom>
          <a:solidFill>
            <a:srgbClr val="2C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33856" y="4773168"/>
            <a:ext cx="10012680" cy="566928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F7F9FC"/>
                </a:solidFill>
                <a:latin typeface="Aptos"/>
              </a:defRPr>
            </a:pPr>
            <a:r>
              <a:t>Average reward and steps: how well and how efficiently it completes episodes.</a:t>
            </a:r>
          </a:p>
        </p:txBody>
      </p:sp>
      <p:sp>
        <p:nvSpPr>
          <p:cNvPr id="24" name="Oval 23"/>
          <p:cNvSpPr/>
          <p:nvPr/>
        </p:nvSpPr>
        <p:spPr>
          <a:xfrm>
            <a:off x="914400" y="5440680"/>
            <a:ext cx="100584" cy="100584"/>
          </a:xfrm>
          <a:prstGeom prst="ellipse">
            <a:avLst/>
          </a:prstGeom>
          <a:solidFill>
            <a:srgbClr val="2C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33856" y="5340096"/>
            <a:ext cx="10012680" cy="566928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F7F9FC"/>
                </a:solidFill>
                <a:latin typeface="Aptos"/>
              </a:defRPr>
            </a:pPr>
            <a:r>
              <a:t>Training effort and results across multiple random seeds/layouts to check consistency.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989320"/>
            <a:ext cx="10332720" cy="22860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A4B4CA"/>
                </a:solidFill>
                <a:latin typeface="Aptos"/>
              </a:defRPr>
            </a:pPr>
            <a:r>
              <a:t>No comparative results are available yet; they will be reported after experiments are run.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D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0292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7F9FC"/>
                </a:solidFill>
                <a:latin typeface="Aptos"/>
              </a:defRPr>
            </a:pPr>
            <a:r>
              <a:t>7. What we will do 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896112"/>
            <a:ext cx="777240" cy="50292"/>
          </a:xfrm>
          <a:prstGeom prst="rect">
            <a:avLst/>
          </a:prstGeom>
          <a:solidFill>
            <a:srgbClr val="2C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8760" y="804672"/>
            <a:ext cx="9875520" cy="27432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A4B4CA"/>
                </a:solidFill>
                <a:latin typeface="Aptos"/>
              </a:defRPr>
            </a:pPr>
            <a:r>
              <a:t>Immediate implementation priorities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457200" cy="16459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A4B4CA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92240"/>
            <a:ext cx="8229600" cy="16459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A4B4CA"/>
                </a:solidFill>
                <a:latin typeface="Aptos"/>
              </a:defRPr>
            </a:pPr>
            <a:r>
              <a:t>Adaptive Curriculum Learning • MiniGrid MultiRoom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5257800" cy="1600200"/>
          </a:xfrm>
          <a:prstGeom prst="roundRect">
            <a:avLst/>
          </a:prstGeom>
          <a:solidFill>
            <a:srgbClr val="192745"/>
          </a:solidFill>
          <a:ln>
            <a:solidFill>
              <a:srgbClr val="36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234440"/>
            <a:ext cx="64008" cy="1600200"/>
          </a:xfrm>
          <a:prstGeom prst="rect">
            <a:avLst/>
          </a:prstGeom>
          <a:solidFill>
            <a:srgbClr val="FFB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362456"/>
            <a:ext cx="4892040" cy="34747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FB25C"/>
                </a:solidFill>
                <a:latin typeface="Aptos"/>
              </a:defRPr>
            </a:pPr>
            <a:r>
              <a:t>1. STABILIZE PPO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764792"/>
            <a:ext cx="4892040" cy="978407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F7F9FC"/>
                </a:solidFill>
                <a:latin typeface="Aptos"/>
              </a:defRPr>
            </a:pPr>
            <a:r>
              <a:t>Investigate why the current PPO policy does not navigate reliably. Verify observations, action handling, reward signals, and evaluation episodes before increasing training complexity.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34440"/>
            <a:ext cx="5257800" cy="1600200"/>
          </a:xfrm>
          <a:prstGeom prst="roundRect">
            <a:avLst/>
          </a:prstGeom>
          <a:solidFill>
            <a:srgbClr val="192745"/>
          </a:solidFill>
          <a:ln>
            <a:solidFill>
              <a:srgbClr val="36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234440"/>
            <a:ext cx="64008" cy="1600200"/>
          </a:xfrm>
          <a:prstGeom prst="rect">
            <a:avLst/>
          </a:prstGeom>
          <a:solidFill>
            <a:srgbClr val="70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362456"/>
            <a:ext cx="4892040" cy="34747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70D2E1"/>
                </a:solidFill>
                <a:latin typeface="Aptos"/>
              </a:defRPr>
            </a:pPr>
            <a:r>
              <a:t>2. BUILD THE CURRICULUM MANAGER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764792"/>
            <a:ext cx="4892040" cy="978407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F7F9FC"/>
                </a:solidFill>
                <a:latin typeface="Aptos"/>
              </a:defRPr>
            </a:pPr>
            <a:r>
              <a:t>Implement a component that records success rate and other metrics, applies a tested readiness rule, and switches between the 2-, 4-, and 6-room levels.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154680"/>
            <a:ext cx="5257800" cy="1600200"/>
          </a:xfrm>
          <a:prstGeom prst="roundRect">
            <a:avLst/>
          </a:prstGeom>
          <a:solidFill>
            <a:srgbClr val="192745"/>
          </a:solidFill>
          <a:ln>
            <a:solidFill>
              <a:srgbClr val="36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154680"/>
            <a:ext cx="64008" cy="1600200"/>
          </a:xfrm>
          <a:prstGeom prst="rect">
            <a:avLst/>
          </a:prstGeom>
          <a:solidFill>
            <a:srgbClr val="2C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3282696"/>
            <a:ext cx="4892040" cy="34747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CC2B2"/>
                </a:solidFill>
                <a:latin typeface="Aptos"/>
              </a:defRPr>
            </a:pPr>
            <a:r>
              <a:t>3. RUN CONTROLLED EXPERIMENTS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3685032"/>
            <a:ext cx="4892040" cy="978407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F7F9FC"/>
                </a:solidFill>
                <a:latin typeface="Aptos"/>
              </a:defRPr>
            </a:pPr>
            <a:r>
              <a:t>Train and evaluate direct PPO, fixed curriculum, and adaptive curriculum using comparable settings. Repeat with multiple seeds and save the results for analysis.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154680"/>
            <a:ext cx="5257800" cy="1600200"/>
          </a:xfrm>
          <a:prstGeom prst="roundRect">
            <a:avLst/>
          </a:prstGeom>
          <a:solidFill>
            <a:srgbClr val="192745"/>
          </a:solidFill>
          <a:ln>
            <a:solidFill>
              <a:srgbClr val="36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154680"/>
            <a:ext cx="64008" cy="1600200"/>
          </a:xfrm>
          <a:prstGeom prst="rect">
            <a:avLst/>
          </a:prstGeom>
          <a:solidFill>
            <a:srgbClr val="75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3282696"/>
            <a:ext cx="4892040" cy="34747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75D399"/>
                </a:solidFill>
                <a:latin typeface="Aptos"/>
              </a:defRPr>
            </a:pPr>
            <a:r>
              <a:t>4. ANALYZE AND DOCUMENT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3685032"/>
            <a:ext cx="4892040" cy="978407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F7F9FC"/>
                </a:solidFill>
                <a:latin typeface="Aptos"/>
              </a:defRPr>
            </a:pPr>
            <a:r>
              <a:t>Plot success rate and reward over training, compare steps and training effort, discuss limitations, and use the measured evidence to decide whether adaptive curriculum helps.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303520"/>
            <a:ext cx="10424160" cy="6400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7F9FC"/>
                </a:solidFill>
                <a:latin typeface="Aptos"/>
              </a:defRPr>
            </a:pPr>
            <a:r>
              <a:t>Immediate priority: obtain a reliable PPO baseline first. Then add curriculum switching and evaluate the full system.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989320"/>
            <a:ext cx="10424160" cy="22860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A4B4CA"/>
                </a:solidFill>
                <a:latin typeface="Aptos"/>
              </a:defRPr>
            </a:pPr>
            <a:r>
              <a:t>These are planned tasks, not completed results.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D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0292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7F9FC"/>
                </a:solidFill>
                <a:latin typeface="Aptos"/>
              </a:defRPr>
            </a:pPr>
            <a:r>
              <a:t>8. Challenges and mitigation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896112"/>
            <a:ext cx="777240" cy="50292"/>
          </a:xfrm>
          <a:prstGeom prst="rect">
            <a:avLst/>
          </a:prstGeom>
          <a:solidFill>
            <a:srgbClr val="2C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8760" y="804672"/>
            <a:ext cx="9875520" cy="27432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A4B4CA"/>
                </a:solidFill>
                <a:latin typeface="Aptos"/>
              </a:defRPr>
            </a:pPr>
            <a:r>
              <a:t>How we will keep the project technically credible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457200" cy="16459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A4B4CA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92240"/>
            <a:ext cx="8229600" cy="16459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A4B4CA"/>
                </a:solidFill>
                <a:latin typeface="Aptos"/>
              </a:defRPr>
            </a:pPr>
            <a:r>
              <a:t>Adaptive Curriculum Learning • MiniGrid MultiRoom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5212080" cy="1691640"/>
          </a:xfrm>
          <a:prstGeom prst="roundRect">
            <a:avLst/>
          </a:prstGeom>
          <a:solidFill>
            <a:srgbClr val="192745"/>
          </a:solidFill>
          <a:ln>
            <a:solidFill>
              <a:srgbClr val="36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234440"/>
            <a:ext cx="64008" cy="1691640"/>
          </a:xfrm>
          <a:prstGeom prst="rect">
            <a:avLst/>
          </a:prstGeom>
          <a:solidFill>
            <a:srgbClr val="FFB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362456"/>
            <a:ext cx="4846320" cy="34747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FB25C"/>
                </a:solidFill>
                <a:latin typeface="Aptos"/>
              </a:defRPr>
            </a:pPr>
            <a:r>
              <a:t>PPO DOES NOT LEARN RELIABLY YET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764792"/>
            <a:ext cx="4846320" cy="1069848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F7F9FC"/>
                </a:solidFill>
                <a:latin typeface="Aptos"/>
              </a:defRPr>
            </a:pPr>
            <a:r>
              <a:t>Check the observation extractor, action behavior, reward flow, and evaluation setup. Track success rate over repeated episodes instead of judging from one animation.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34440"/>
            <a:ext cx="5212080" cy="1691640"/>
          </a:xfrm>
          <a:prstGeom prst="roundRect">
            <a:avLst/>
          </a:prstGeom>
          <a:solidFill>
            <a:srgbClr val="192745"/>
          </a:solidFill>
          <a:ln>
            <a:solidFill>
              <a:srgbClr val="36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234440"/>
            <a:ext cx="64008" cy="1691640"/>
          </a:xfrm>
          <a:prstGeom prst="rect">
            <a:avLst/>
          </a:prstGeom>
          <a:solidFill>
            <a:srgbClr val="70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362456"/>
            <a:ext cx="4846320" cy="34747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70D2E1"/>
                </a:solidFill>
                <a:latin typeface="Aptos"/>
              </a:defRPr>
            </a:pPr>
            <a:r>
              <a:t>CURRICULUM MAY ADVANCE TOO EARLY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764792"/>
            <a:ext cx="4846320" cy="1069848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F7F9FC"/>
                </a:solidFill>
                <a:latin typeface="Aptos"/>
              </a:defRPr>
            </a:pPr>
            <a:r>
              <a:t>Use a rolling evaluation window and require stable performance before changing levels. Test different thresholds instead of assuming one value is correct.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246120"/>
            <a:ext cx="5212080" cy="1691640"/>
          </a:xfrm>
          <a:prstGeom prst="roundRect">
            <a:avLst/>
          </a:prstGeom>
          <a:solidFill>
            <a:srgbClr val="192745"/>
          </a:solidFill>
          <a:ln>
            <a:solidFill>
              <a:srgbClr val="36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246120"/>
            <a:ext cx="64008" cy="1691640"/>
          </a:xfrm>
          <a:prstGeom prst="rect">
            <a:avLst/>
          </a:prstGeom>
          <a:solidFill>
            <a:srgbClr val="2C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3374136"/>
            <a:ext cx="4846320" cy="34747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CC2B2"/>
                </a:solidFill>
                <a:latin typeface="Aptos"/>
              </a:defRPr>
            </a:pPr>
            <a:r>
              <a:t>RANDOMNESS AFFECTS 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3776472"/>
            <a:ext cx="4846320" cy="1069848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F7F9FC"/>
                </a:solidFill>
                <a:latin typeface="Aptos"/>
              </a:defRPr>
            </a:pPr>
            <a:r>
              <a:t>Use multiple random seeds and comparable evaluation conditions. Report average performance and variation, not only the best run.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246120"/>
            <a:ext cx="5212080" cy="1691640"/>
          </a:xfrm>
          <a:prstGeom prst="roundRect">
            <a:avLst/>
          </a:prstGeom>
          <a:solidFill>
            <a:srgbClr val="192745"/>
          </a:solidFill>
          <a:ln>
            <a:solidFill>
              <a:srgbClr val="36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246120"/>
            <a:ext cx="64008" cy="1691640"/>
          </a:xfrm>
          <a:prstGeom prst="rect">
            <a:avLst/>
          </a:prstGeom>
          <a:solidFill>
            <a:srgbClr val="75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3374136"/>
            <a:ext cx="4846320" cy="34747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75D399"/>
                </a:solidFill>
                <a:latin typeface="Aptos"/>
              </a:defRPr>
            </a:pPr>
            <a:r>
              <a:t>PPO LEARNING MUST BE VERIFIED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3776472"/>
            <a:ext cx="4846320" cy="1069848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F7F9FC"/>
                </a:solidFill>
                <a:latin typeface="Aptos"/>
              </a:defRPr>
            </a:pPr>
            <a:r>
              <a:t>A pathfinding demonstration and a trained PPO policy are different. Only results produced by the trained PPO policy can support claims about PPO learning.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349240"/>
            <a:ext cx="10515600" cy="54864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7F9FC"/>
                </a:solidFill>
                <a:latin typeface="Aptos"/>
              </a:defRPr>
            </a:pPr>
            <a:r>
              <a:t>A successful project outcome is a reproducible comparison, even if adaptive curriculum does not outperform every baseline.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D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77240"/>
            <a:ext cx="10698480" cy="36576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2CC2B2"/>
                </a:solidFill>
                <a:latin typeface="Aptos"/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515600" cy="8686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F7F9FC"/>
                </a:solidFill>
                <a:latin typeface="Aptos"/>
              </a:defRPr>
            </a:pPr>
            <a:r>
              <a:t>From environment exploration to an adaptive-learning experiment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651760"/>
            <a:ext cx="3337560" cy="1828800"/>
          </a:xfrm>
          <a:prstGeom prst="roundRect">
            <a:avLst/>
          </a:prstGeom>
          <a:solidFill>
            <a:srgbClr val="192745"/>
          </a:solidFill>
          <a:ln>
            <a:solidFill>
              <a:srgbClr val="36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651760"/>
            <a:ext cx="64008" cy="1828800"/>
          </a:xfrm>
          <a:prstGeom prst="rect">
            <a:avLst/>
          </a:prstGeom>
          <a:solidFill>
            <a:srgbClr val="75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779776"/>
            <a:ext cx="2971800" cy="34747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75D399"/>
                </a:solidFill>
                <a:latin typeface="Aptos"/>
              </a:defRPr>
            </a:pPr>
            <a:r>
              <a:t>COMPLETED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3182112"/>
            <a:ext cx="2971800" cy="1207007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F7F9FC"/>
                </a:solidFill>
                <a:latin typeface="Aptos"/>
              </a:defRPr>
            </a:pPr>
            <a:r>
              <a:t>Environment visualization and configuration experiments.</a:t>
            </a:r>
          </a:p>
          <a:p>
            <a:pPr>
              <a:spcAft>
                <a:spcPts val="500"/>
              </a:spcAft>
              <a:defRPr sz="1300" b="0">
                <a:solidFill>
                  <a:srgbClr val="F7F9FC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300" b="0">
                <a:solidFill>
                  <a:srgbClr val="F7F9FC"/>
                </a:solidFill>
                <a:latin typeface="Aptos"/>
              </a:defRPr>
            </a:pPr>
            <a:r>
              <a:t>Environment visualization and navigation exploration.</a:t>
            </a:r>
          </a:p>
          <a:p>
            <a:pPr>
              <a:spcAft>
                <a:spcPts val="500"/>
              </a:spcAft>
              <a:defRPr sz="1300" b="0">
                <a:solidFill>
                  <a:srgbClr val="F7F9FC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300" b="0">
                <a:solidFill>
                  <a:srgbClr val="F7F9FC"/>
                </a:solidFill>
                <a:latin typeface="Aptos"/>
              </a:defRPr>
            </a:pPr>
            <a:r>
              <a:t>Initial PPO training attempt.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651760"/>
            <a:ext cx="3337560" cy="1828800"/>
          </a:xfrm>
          <a:prstGeom prst="roundRect">
            <a:avLst/>
          </a:prstGeom>
          <a:solidFill>
            <a:srgbClr val="192745"/>
          </a:solidFill>
          <a:ln>
            <a:solidFill>
              <a:srgbClr val="36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2651760"/>
            <a:ext cx="64008" cy="1828800"/>
          </a:xfrm>
          <a:prstGeom prst="rect">
            <a:avLst/>
          </a:prstGeom>
          <a:solidFill>
            <a:srgbClr val="70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2779776"/>
            <a:ext cx="2971800" cy="34747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70D2E1"/>
                </a:solidFill>
                <a:latin typeface="Aptos"/>
              </a:defRPr>
            </a:pPr>
            <a:r>
              <a:t>NEXT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3182112"/>
            <a:ext cx="2971800" cy="1207007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F7F9FC"/>
                </a:solidFill>
                <a:latin typeface="Aptos"/>
              </a:defRPr>
            </a:pPr>
            <a:r>
              <a:t>Improve PPO reliability.</a:t>
            </a:r>
          </a:p>
          <a:p>
            <a:pPr>
              <a:spcAft>
                <a:spcPts val="500"/>
              </a:spcAft>
              <a:defRPr sz="1300" b="0">
                <a:solidFill>
                  <a:srgbClr val="F7F9FC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300" b="0">
                <a:solidFill>
                  <a:srgbClr val="F7F9FC"/>
                </a:solidFill>
                <a:latin typeface="Aptos"/>
              </a:defRPr>
            </a:pPr>
            <a:r>
              <a:t>Implement the Curriculum Manager.</a:t>
            </a:r>
          </a:p>
          <a:p>
            <a:pPr>
              <a:spcAft>
                <a:spcPts val="500"/>
              </a:spcAft>
              <a:defRPr sz="1300" b="0">
                <a:solidFill>
                  <a:srgbClr val="F7F9FC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300" b="0">
                <a:solidFill>
                  <a:srgbClr val="F7F9FC"/>
                </a:solidFill>
                <a:latin typeface="Aptos"/>
              </a:defRPr>
            </a:pPr>
            <a:r>
              <a:t>Run controlled comparisons and record results.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2651760"/>
            <a:ext cx="3337560" cy="1828800"/>
          </a:xfrm>
          <a:prstGeom prst="roundRect">
            <a:avLst/>
          </a:prstGeom>
          <a:solidFill>
            <a:srgbClr val="192745"/>
          </a:solidFill>
          <a:ln>
            <a:solidFill>
              <a:srgbClr val="36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2651760"/>
            <a:ext cx="64008" cy="1828800"/>
          </a:xfrm>
          <a:prstGeom prst="rect">
            <a:avLst/>
          </a:prstGeom>
          <a:solidFill>
            <a:srgbClr val="FFB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3608" y="2779776"/>
            <a:ext cx="2971800" cy="34747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FB25C"/>
                </a:solidFill>
                <a:latin typeface="Aptos"/>
              </a:defRPr>
            </a:pPr>
            <a:r>
              <a:t>GOAL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3182112"/>
            <a:ext cx="2971800" cy="1207007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F7F9FC"/>
                </a:solidFill>
                <a:latin typeface="Aptos"/>
              </a:defRPr>
            </a:pPr>
            <a:r>
              <a:t>Measure whether performance-driven difficulty progression improves learning efficiency and navigation outcomes.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257800"/>
            <a:ext cx="10424160" cy="50292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F7F9FC"/>
                </a:solidFill>
                <a:latin typeface="Aptos"/>
              </a:defRPr>
            </a:pPr>
            <a:r>
              <a:t>Thank you  •  Questions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89788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A4B4CA"/>
                </a:solidFill>
                <a:latin typeface="Aptos"/>
              </a:defRPr>
            </a:pPr>
            <a:r>
              <a:t>Project: Adaptive Curriculum Learning for Autonomous Reinforcement Learning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