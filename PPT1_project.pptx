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89" d="100"/>
          <a:sy n="89" d="100"/>
        </p:scale>
        <p:origin x="437" y="1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F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t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487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t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1051560"/>
            <a:ext cx="10698480" cy="13716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Aptos Display"/>
              </a:defRPr>
            </a:pPr>
            <a:r>
              <a:rPr/>
              <a:t>Adaptive Curriculum Learning</a:t>
            </a:r>
            <a:r>
              <a:t/>
            </a:r>
            <a:br/>
            <a:r>
              <a:rPr/>
              <a:t>for Reinforcement Learning Agents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2788920"/>
            <a:ext cx="9144000" cy="4572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>
              <a:defRPr sz="2000">
                <a:solidFill>
                  <a:srgbClr val="D2DCE8"/>
                </a:solidFill>
                <a:latin typeface="Aptos"/>
              </a:defRPr>
            </a:pPr>
            <a:r>
              <a:rPr/>
              <a:t>Week 3 — Final Project Idea &amp; Initial Plan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" y="3703320"/>
            <a:ext cx="2971800" cy="502920"/>
          </a:xfrm>
          <a:prstGeom prst="roundRect">
            <a:avLst/>
          </a:prstGeom>
          <a:solidFill>
            <a:srgbClr val="2487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t"/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rPr/>
              <a:t>Farama Project: MiniGrid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4434840"/>
            <a:ext cx="50292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FFFFFF"/>
                </a:solidFill>
                <a:latin typeface="Aptos"/>
              </a:defRPr>
            </a:pPr>
            <a:r>
              <a:t>Bhavana Raavi</a:t>
            </a:r>
          </a:p>
          <a:p>
            <a:pPr>
              <a:spcAft>
                <a:spcPts val="400"/>
              </a:spcAft>
              <a:defRPr sz="1400" b="0">
                <a:solidFill>
                  <a:srgbClr val="D2DCE8"/>
                </a:solidFill>
                <a:latin typeface="Aptos"/>
              </a:defRPr>
            </a:pPr>
            <a:r>
              <a:t>BID: B00123226</a:t>
            </a:r>
          </a:p>
          <a:p>
            <a:pPr>
              <a:spcAft>
                <a:spcPts val="400"/>
              </a:spcAft>
              <a:defRPr sz="1400" b="0">
                <a:solidFill>
                  <a:srgbClr val="D2DCE8"/>
                </a:solidFill>
                <a:latin typeface="Aptos"/>
              </a:defRPr>
            </a:pPr>
            <a:r>
              <a:t>Course: Data Science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t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10972800" cy="56692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>
              <a:defRPr sz="2700" b="1">
                <a:solidFill>
                  <a:srgbClr val="141F30"/>
                </a:solidFill>
                <a:latin typeface="Aptos Display"/>
              </a:defRPr>
            </a:pPr>
            <a:r>
              <a:rPr/>
              <a:t>1. Project Idea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41248"/>
            <a:ext cx="10789920" cy="2743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>
              <a:defRPr sz="1100">
                <a:solidFill>
                  <a:srgbClr val="5A6470"/>
                </a:solidFill>
                <a:latin typeface="Aptos"/>
              </a:defRPr>
            </a:pPr>
            <a:r>
              <a:rPr/>
              <a:t>What we are proposing, and what problem it addresses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234440"/>
            <a:ext cx="10972800" cy="1325880"/>
          </a:xfrm>
          <a:prstGeom prst="roundRect">
            <a:avLst/>
          </a:prstGeom>
          <a:solidFill>
            <a:srgbClr val="E8F1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t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" y="1234440"/>
            <a:ext cx="64008" cy="1325880"/>
          </a:xfrm>
          <a:prstGeom prst="rect">
            <a:avLst/>
          </a:prstGeom>
          <a:solidFill>
            <a:srgbClr val="2D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t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7" y="1353312"/>
            <a:ext cx="10607040" cy="347472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>
              <a:defRPr sz="1500" b="1">
                <a:solidFill>
                  <a:srgbClr val="141F30"/>
                </a:solidFill>
                <a:latin typeface="Aptos"/>
              </a:defRPr>
            </a:pPr>
            <a:r>
              <a:rPr/>
              <a:t>Project Title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1755648"/>
            <a:ext cx="10607040" cy="6858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>
              <a:defRPr sz="2300">
                <a:solidFill>
                  <a:srgbClr val="1E1E1E"/>
                </a:solidFill>
                <a:latin typeface="Aptos"/>
              </a:defRPr>
            </a:pPr>
            <a:r>
              <a:rPr/>
              <a:t>Adaptive Curriculum Learning for Reinforcement Learning Agents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788920"/>
            <a:ext cx="3429000" cy="2468880"/>
          </a:xfrm>
          <a:prstGeom prst="roundRect">
            <a:avLst/>
          </a:prstGeom>
          <a:solidFill>
            <a:srgbClr val="E7F6F3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t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40080" y="2788920"/>
            <a:ext cx="64008" cy="2468880"/>
          </a:xfrm>
          <a:prstGeom prst="rect">
            <a:avLst/>
          </a:prstGeom>
          <a:solidFill>
            <a:srgbClr val="2487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t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41247" y="2907791"/>
            <a:ext cx="3063240" cy="347472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>
              <a:defRPr sz="1500" b="1">
                <a:solidFill>
                  <a:srgbClr val="141F30"/>
                </a:solidFill>
                <a:latin typeface="Aptos"/>
              </a:defRPr>
            </a:pPr>
            <a:r>
              <a:rPr/>
              <a:t>Existing project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7" y="3310127"/>
            <a:ext cx="3063240" cy="18288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>
              <a:defRPr sz="1500">
                <a:solidFill>
                  <a:srgbClr val="1E1E1E"/>
                </a:solidFill>
                <a:latin typeface="Aptos"/>
              </a:defRPr>
            </a:pPr>
            <a:r>
              <a:rPr/>
              <a:t>Farama MiniGrid</a:t>
            </a:r>
            <a:r>
              <a:t/>
            </a:r>
            <a:br/>
            <a:r>
              <a:t/>
            </a:r>
            <a:br/>
            <a:r>
              <a:rPr/>
              <a:t>A configurable 2D grid-world environment for reinforcement-learning research. We use its existing Multi Room environment as the controlled experimental setting.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70832" y="2788920"/>
            <a:ext cx="3429000" cy="2468880"/>
          </a:xfrm>
          <a:prstGeom prst="roundRect">
            <a:avLst/>
          </a:prstGeom>
          <a:solidFill>
            <a:srgbClr val="FCF0E2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t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370832" y="2788920"/>
            <a:ext cx="64008" cy="2468880"/>
          </a:xfrm>
          <a:prstGeom prst="rect">
            <a:avLst/>
          </a:prstGeom>
          <a:solidFill>
            <a:srgbClr val="E08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t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72000" y="2907791"/>
            <a:ext cx="3063240" cy="347472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>
              <a:defRPr sz="1500" b="1">
                <a:solidFill>
                  <a:srgbClr val="141F30"/>
                </a:solidFill>
                <a:latin typeface="Aptos"/>
              </a:defRPr>
            </a:pPr>
            <a:r>
              <a:rPr/>
              <a:t>Problem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3310127"/>
            <a:ext cx="3063240" cy="18288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>
              <a:defRPr sz="1500">
                <a:solidFill>
                  <a:srgbClr val="1E1E1E"/>
                </a:solidFill>
                <a:latin typeface="Aptos"/>
              </a:defRPr>
            </a:pPr>
            <a:r>
              <a:rPr/>
              <a:t>If an RL agent starts with a very difficult task, learning can be inefficient. If training stays too easy, the agent may not develop the skills needed for harder tasks.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01583" y="2788920"/>
            <a:ext cx="3429000" cy="2468880"/>
          </a:xfrm>
          <a:prstGeom prst="roundRect">
            <a:avLst/>
          </a:prstGeom>
          <a:solidFill>
            <a:srgbClr val="E8F6EC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t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101583" y="2788920"/>
            <a:ext cx="64008" cy="2468880"/>
          </a:xfrm>
          <a:prstGeom prst="rect">
            <a:avLst/>
          </a:prstGeom>
          <a:solidFill>
            <a:srgbClr val="2D91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t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302752" y="2907791"/>
            <a:ext cx="3063240" cy="347472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>
              <a:defRPr sz="1500" b="1">
                <a:solidFill>
                  <a:srgbClr val="141F30"/>
                </a:solidFill>
                <a:latin typeface="Aptos"/>
              </a:defRPr>
            </a:pPr>
            <a:r>
              <a:rPr/>
              <a:t>Our idea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02752" y="3310127"/>
            <a:ext cx="3063240" cy="18288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>
              <a:defRPr sz="1500">
                <a:solidFill>
                  <a:srgbClr val="1E1E1E"/>
                </a:solidFill>
                <a:latin typeface="Aptos"/>
              </a:defRPr>
            </a:pPr>
            <a:r>
              <a:rPr/>
              <a:t>Build a Python Curriculum Manager that monitors learning progress and controls when the agent moves from easier to harder Multi Room configurations.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5486400"/>
            <a:ext cx="10881360" cy="502920"/>
          </a:xfrm>
          <a:prstGeom prst="roundRect">
            <a:avLst/>
          </a:prstGeom>
          <a:solidFill>
            <a:srgbClr val="E8F1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t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40080" y="5486400"/>
            <a:ext cx="64008" cy="502920"/>
          </a:xfrm>
          <a:prstGeom prst="rect">
            <a:avLst/>
          </a:prstGeom>
          <a:solidFill>
            <a:srgbClr val="2D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t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41247" y="5605272"/>
            <a:ext cx="10515600" cy="347472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>
              <a:defRPr sz="1500" b="1">
                <a:solidFill>
                  <a:srgbClr val="141F30"/>
                </a:solidFill>
                <a:latin typeface="Aptos"/>
              </a:defRPr>
            </a:pPr>
            <a:r>
              <a:rPr/>
              <a:t>Research question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7" y="6007608"/>
            <a:ext cx="10515600" cy="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>
              <a:defRPr sz="1500">
                <a:solidFill>
                  <a:srgbClr val="1E1E1E"/>
                </a:solidFill>
                <a:latin typeface="Aptos"/>
              </a:defRPr>
            </a:pPr>
            <a:r>
              <a:rPr/>
              <a:t>Can an AI agent learn difficult tasks more efficiently when training difficulty is adapted according to its learning progress?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4360" y="6419088"/>
            <a:ext cx="10972800" cy="18288"/>
          </a:xfrm>
          <a:prstGeom prst="rect">
            <a:avLst/>
          </a:prstGeom>
          <a:solidFill>
            <a:srgbClr val="DC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t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21792" y="6455664"/>
            <a:ext cx="10789920" cy="2286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>
              <a:defRPr sz="700">
                <a:solidFill>
                  <a:srgbClr val="5A6470"/>
                </a:solidFill>
                <a:latin typeface="Aptos"/>
              </a:defRPr>
            </a:pPr>
            <a:r>
              <a:rPr/>
              <a:t>MiniGrid is the existing Farama project. Our contribution is the adaptive curriculum mechanism and its experimental evaluation. citeturn0search3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t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10972800" cy="56692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>
              <a:defRPr sz="2700" b="1">
                <a:solidFill>
                  <a:srgbClr val="141F30"/>
                </a:solidFill>
                <a:latin typeface="Aptos Display"/>
              </a:defRPr>
            </a:pPr>
            <a:r>
              <a:rPr/>
              <a:t>2. Description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41248"/>
            <a:ext cx="10789920" cy="2743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>
              <a:defRPr sz="1100">
                <a:solidFill>
                  <a:srgbClr val="5A6470"/>
                </a:solidFill>
                <a:latin typeface="Aptos"/>
              </a:defRPr>
            </a:pPr>
            <a:r>
              <a:rPr/>
              <a:t>How the complete system will work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417320"/>
            <a:ext cx="1965960" cy="1828800"/>
          </a:xfrm>
          <a:prstGeom prst="roundRect">
            <a:avLst/>
          </a:prstGeom>
          <a:solidFill>
            <a:srgbClr val="F4F6F8"/>
          </a:solidFill>
          <a:ln w="25400">
            <a:solidFill>
              <a:srgbClr val="2D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t"/>
          <a:lstStyle/>
          <a:p>
            <a:pPr algn="ctr">
              <a:defRPr sz="2200" b="1">
                <a:solidFill>
                  <a:srgbClr val="2D69AA"/>
                </a:solidFill>
                <a:latin typeface="Aptos Display"/>
              </a:defRPr>
            </a:pPr>
            <a:r>
              <a:rPr/>
              <a:t>1</a:t>
            </a:r>
          </a:p>
          <a:p>
            <a:pPr algn="ctr">
              <a:defRPr sz="1500" b="1">
                <a:solidFill>
                  <a:srgbClr val="141F30"/>
                </a:solidFill>
                <a:latin typeface="Aptos"/>
              </a:defRPr>
            </a:pPr>
            <a:r>
              <a:rPr/>
              <a:t>Observe</a:t>
            </a:r>
          </a:p>
          <a:p>
            <a:pPr algn="ctr">
              <a:defRPr sz="1000">
                <a:solidFill>
                  <a:srgbClr val="5A6470"/>
                </a:solidFill>
                <a:latin typeface="Aptos"/>
              </a:defRPr>
            </a:pPr>
            <a:r>
              <a:rPr/>
              <a:t>Agent receives</a:t>
            </a:r>
            <a:r>
              <a:t/>
            </a:r>
            <a:br/>
            <a:r>
              <a:rPr/>
              <a:t>state/observation</a:t>
            </a:r>
          </a:p>
        </p:txBody>
      </p:sp>
      <p:sp>
        <p:nvSpPr>
          <p:cNvPr id="6" name="Chevron 5"/>
          <p:cNvSpPr/>
          <p:nvPr/>
        </p:nvSpPr>
        <p:spPr>
          <a:xfrm>
            <a:off x="2514600" y="2057400"/>
            <a:ext cx="274320" cy="411480"/>
          </a:xfrm>
          <a:prstGeom prst="chevron">
            <a:avLst/>
          </a:prstGeom>
          <a:solidFill>
            <a:srgbClr val="B9C3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t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2834639" y="1417320"/>
            <a:ext cx="1965960" cy="1828800"/>
          </a:xfrm>
          <a:prstGeom prst="roundRect">
            <a:avLst/>
          </a:prstGeom>
          <a:solidFill>
            <a:srgbClr val="F4F6F8"/>
          </a:solidFill>
          <a:ln w="25400">
            <a:solidFill>
              <a:srgbClr val="2487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t"/>
          <a:lstStyle/>
          <a:p>
            <a:pPr algn="ctr">
              <a:defRPr sz="2200" b="1">
                <a:solidFill>
                  <a:srgbClr val="24877D"/>
                </a:solidFill>
                <a:latin typeface="Aptos Display"/>
              </a:defRPr>
            </a:pPr>
            <a:r>
              <a:rPr/>
              <a:t>2</a:t>
            </a:r>
          </a:p>
          <a:p>
            <a:pPr algn="ctr">
              <a:defRPr sz="1500" b="1">
                <a:solidFill>
                  <a:srgbClr val="141F30"/>
                </a:solidFill>
                <a:latin typeface="Aptos"/>
              </a:defRPr>
            </a:pPr>
            <a:r>
              <a:rPr/>
              <a:t>Act</a:t>
            </a:r>
          </a:p>
          <a:p>
            <a:pPr algn="ctr">
              <a:defRPr sz="1000">
                <a:solidFill>
                  <a:srgbClr val="5A6470"/>
                </a:solidFill>
                <a:latin typeface="Aptos"/>
              </a:defRPr>
            </a:pPr>
            <a:r>
              <a:rPr/>
              <a:t>PPO chooses</a:t>
            </a:r>
            <a:r>
              <a:t/>
            </a:r>
            <a:br/>
            <a:r>
              <a:rPr/>
              <a:t>an action</a:t>
            </a:r>
          </a:p>
        </p:txBody>
      </p:sp>
      <p:sp>
        <p:nvSpPr>
          <p:cNvPr id="8" name="Chevron 7"/>
          <p:cNvSpPr/>
          <p:nvPr/>
        </p:nvSpPr>
        <p:spPr>
          <a:xfrm>
            <a:off x="4846320" y="2057400"/>
            <a:ext cx="274320" cy="411480"/>
          </a:xfrm>
          <a:prstGeom prst="chevron">
            <a:avLst/>
          </a:prstGeom>
          <a:solidFill>
            <a:srgbClr val="B9C3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t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5166359" y="1417320"/>
            <a:ext cx="1965960" cy="1828800"/>
          </a:xfrm>
          <a:prstGeom prst="roundRect">
            <a:avLst/>
          </a:prstGeom>
          <a:solidFill>
            <a:srgbClr val="F4F6F8"/>
          </a:solidFill>
          <a:ln w="25400">
            <a:solidFill>
              <a:srgbClr val="E082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t"/>
          <a:lstStyle/>
          <a:p>
            <a:pPr algn="ctr">
              <a:defRPr sz="2200" b="1">
                <a:solidFill>
                  <a:srgbClr val="E0822D"/>
                </a:solidFill>
                <a:latin typeface="Aptos Display"/>
              </a:defRPr>
            </a:pPr>
            <a:r>
              <a:rPr/>
              <a:t>3</a:t>
            </a:r>
          </a:p>
          <a:p>
            <a:pPr algn="ctr">
              <a:defRPr sz="1500" b="1">
                <a:solidFill>
                  <a:srgbClr val="141F30"/>
                </a:solidFill>
                <a:latin typeface="Aptos"/>
              </a:defRPr>
            </a:pPr>
            <a:r>
              <a:rPr/>
              <a:t>Learn</a:t>
            </a:r>
          </a:p>
          <a:p>
            <a:pPr algn="ctr">
              <a:defRPr sz="1000">
                <a:solidFill>
                  <a:srgbClr val="5A6470"/>
                </a:solidFill>
                <a:latin typeface="Aptos"/>
              </a:defRPr>
            </a:pPr>
            <a:r>
              <a:rPr/>
              <a:t>Environment returns</a:t>
            </a:r>
            <a:r>
              <a:t/>
            </a:r>
            <a:br/>
            <a:r>
              <a:rPr/>
              <a:t>reward + next state</a:t>
            </a:r>
          </a:p>
        </p:txBody>
      </p:sp>
      <p:sp>
        <p:nvSpPr>
          <p:cNvPr id="10" name="Chevron 9"/>
          <p:cNvSpPr/>
          <p:nvPr/>
        </p:nvSpPr>
        <p:spPr>
          <a:xfrm>
            <a:off x="7178040" y="2057400"/>
            <a:ext cx="274320" cy="411480"/>
          </a:xfrm>
          <a:prstGeom prst="chevron">
            <a:avLst/>
          </a:prstGeom>
          <a:solidFill>
            <a:srgbClr val="B9C3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t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7498079" y="1417320"/>
            <a:ext cx="1965960" cy="1828800"/>
          </a:xfrm>
          <a:prstGeom prst="roundRect">
            <a:avLst/>
          </a:prstGeom>
          <a:solidFill>
            <a:srgbClr val="F4F6F8"/>
          </a:solidFill>
          <a:ln w="25400">
            <a:solidFill>
              <a:srgbClr val="6E5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t"/>
          <a:lstStyle/>
          <a:p>
            <a:pPr algn="ctr">
              <a:defRPr sz="2200" b="1">
                <a:solidFill>
                  <a:srgbClr val="6E55A5"/>
                </a:solidFill>
                <a:latin typeface="Aptos Display"/>
              </a:defRPr>
            </a:pPr>
            <a:r>
              <a:rPr/>
              <a:t>4</a:t>
            </a:r>
          </a:p>
          <a:p>
            <a:pPr algn="ctr">
              <a:defRPr sz="1500" b="1">
                <a:solidFill>
                  <a:srgbClr val="141F30"/>
                </a:solidFill>
                <a:latin typeface="Aptos"/>
              </a:defRPr>
            </a:pPr>
            <a:r>
              <a:rPr/>
              <a:t>Evaluate</a:t>
            </a:r>
          </a:p>
          <a:p>
            <a:pPr algn="ctr">
              <a:defRPr sz="1000">
                <a:solidFill>
                  <a:srgbClr val="5A6470"/>
                </a:solidFill>
                <a:latin typeface="Aptos"/>
              </a:defRPr>
            </a:pPr>
            <a:r>
              <a:rPr/>
              <a:t>Metrics summarize</a:t>
            </a:r>
            <a:r>
              <a:t/>
            </a:r>
            <a:br/>
            <a:r>
              <a:rPr/>
              <a:t>learning progress</a:t>
            </a:r>
          </a:p>
        </p:txBody>
      </p:sp>
      <p:sp>
        <p:nvSpPr>
          <p:cNvPr id="12" name="Chevron 11"/>
          <p:cNvSpPr/>
          <p:nvPr/>
        </p:nvSpPr>
        <p:spPr>
          <a:xfrm>
            <a:off x="9509759" y="2057400"/>
            <a:ext cx="274320" cy="411480"/>
          </a:xfrm>
          <a:prstGeom prst="chevron">
            <a:avLst/>
          </a:prstGeom>
          <a:solidFill>
            <a:srgbClr val="B9C3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t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9829800" y="1417320"/>
            <a:ext cx="1965960" cy="1828800"/>
          </a:xfrm>
          <a:prstGeom prst="roundRect">
            <a:avLst/>
          </a:prstGeom>
          <a:solidFill>
            <a:srgbClr val="F4F6F8"/>
          </a:solidFill>
          <a:ln w="25400">
            <a:solidFill>
              <a:srgbClr val="2D91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t"/>
          <a:lstStyle/>
          <a:p>
            <a:pPr algn="ctr">
              <a:defRPr sz="2200" b="1">
                <a:solidFill>
                  <a:srgbClr val="2D9152"/>
                </a:solidFill>
                <a:latin typeface="Aptos Display"/>
              </a:defRPr>
            </a:pPr>
            <a:r>
              <a:rPr/>
              <a:t>5</a:t>
            </a:r>
          </a:p>
          <a:p>
            <a:pPr algn="ctr">
              <a:defRPr sz="1500" b="1">
                <a:solidFill>
                  <a:srgbClr val="141F30"/>
                </a:solidFill>
                <a:latin typeface="Aptos"/>
              </a:defRPr>
            </a:pPr>
            <a:r>
              <a:rPr/>
              <a:t>Adapt</a:t>
            </a:r>
          </a:p>
          <a:p>
            <a:pPr algn="ctr">
              <a:defRPr sz="1000">
                <a:solidFill>
                  <a:srgbClr val="5A6470"/>
                </a:solidFill>
                <a:latin typeface="Aptos"/>
              </a:defRPr>
            </a:pPr>
            <a:r>
              <a:rPr/>
              <a:t>Curriculum Manager</a:t>
            </a:r>
            <a:r>
              <a:t/>
            </a:r>
            <a:br/>
            <a:r>
              <a:rPr/>
              <a:t>chooses difficulty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703320"/>
            <a:ext cx="5349240" cy="1828800"/>
          </a:xfrm>
          <a:prstGeom prst="roundRect">
            <a:avLst/>
          </a:prstGeom>
          <a:solidFill>
            <a:srgbClr val="E8F1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t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40080" y="3703320"/>
            <a:ext cx="64008" cy="1828800"/>
          </a:xfrm>
          <a:prstGeom prst="rect">
            <a:avLst/>
          </a:prstGeom>
          <a:solidFill>
            <a:srgbClr val="2D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t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41247" y="3822191"/>
            <a:ext cx="4983479" cy="347472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>
              <a:defRPr sz="1500" b="1">
                <a:solidFill>
                  <a:srgbClr val="141F30"/>
                </a:solidFill>
                <a:latin typeface="Aptos"/>
              </a:defRPr>
            </a:pPr>
            <a:r>
              <a:rPr/>
              <a:t>What makes it adaptive?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7" y="4224528"/>
            <a:ext cx="4983479" cy="11887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>
              <a:defRPr sz="1500">
                <a:solidFill>
                  <a:srgbClr val="1E1E1E"/>
                </a:solidFill>
                <a:latin typeface="Aptos"/>
              </a:defRPr>
            </a:pPr>
            <a:r>
              <a:rPr/>
              <a:t>The difficulty is not advanced simply because a fixed number of episodes has passed. The Curriculum Manager uses measured performance to determine whether the agent is ready.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3703320"/>
            <a:ext cx="5349240" cy="1828800"/>
          </a:xfrm>
          <a:prstGeom prst="roundRect">
            <a:avLst/>
          </a:prstGeom>
          <a:solidFill>
            <a:srgbClr val="E8F6EC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t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172200" y="3703320"/>
            <a:ext cx="64008" cy="1828800"/>
          </a:xfrm>
          <a:prstGeom prst="rect">
            <a:avLst/>
          </a:prstGeom>
          <a:solidFill>
            <a:srgbClr val="2D91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t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73368" y="3822191"/>
            <a:ext cx="4983479" cy="347472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>
              <a:defRPr sz="1500" b="1">
                <a:solidFill>
                  <a:srgbClr val="141F30"/>
                </a:solidFill>
                <a:latin typeface="Aptos"/>
              </a:defRPr>
            </a:pPr>
            <a:r>
              <a:rPr/>
              <a:t>What we compare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73368" y="4224528"/>
            <a:ext cx="4983479" cy="11887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>
              <a:defRPr sz="1500">
                <a:solidFill>
                  <a:srgbClr val="1E1E1E"/>
                </a:solidFill>
                <a:latin typeface="Aptos"/>
              </a:defRPr>
            </a:pPr>
            <a:r>
              <a:rPr/>
              <a:t>Direct training on a difficult level vs. a fixed 2→4→6 schedule vs. our adaptive schedule. Metrics will show whether adaptation improves learning efficiency and final performance.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4360" y="6419088"/>
            <a:ext cx="10972800" cy="18288"/>
          </a:xfrm>
          <a:prstGeom prst="rect">
            <a:avLst/>
          </a:prstGeom>
          <a:solidFill>
            <a:srgbClr val="DC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t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21792" y="6455664"/>
            <a:ext cx="10789920" cy="2286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>
              <a:defRPr sz="700">
                <a:solidFill>
                  <a:srgbClr val="5A6470"/>
                </a:solidFill>
                <a:latin typeface="Aptos"/>
              </a:defRPr>
            </a:pPr>
            <a:r>
              <a:rPr/>
              <a:t>Multi Room's official documentation states that progressively increasing room count and building a curriculum can make the environment solvable. citeturn0search2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t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10972800" cy="56692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>
              <a:defRPr sz="2700" b="1">
                <a:solidFill>
                  <a:srgbClr val="141F30"/>
                </a:solidFill>
                <a:latin typeface="Aptos Display"/>
              </a:defRPr>
            </a:pPr>
            <a:r>
              <a:rPr/>
              <a:t>3. Developing Environment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41248"/>
            <a:ext cx="10789920" cy="2743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>
              <a:defRPr sz="1100">
                <a:solidFill>
                  <a:srgbClr val="5A6470"/>
                </a:solidFill>
                <a:latin typeface="Aptos"/>
              </a:defRPr>
            </a:pPr>
            <a:r>
              <a:rPr/>
              <a:t>Existing technologies are the foundation; Curriculum Manager is our own component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188720"/>
            <a:ext cx="3337560" cy="4526280"/>
          </a:xfrm>
          <a:prstGeom prst="roundRect">
            <a:avLst/>
          </a:prstGeom>
          <a:solidFill>
            <a:srgbClr val="F4F6F8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t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" y="1188720"/>
            <a:ext cx="64008" cy="4526280"/>
          </a:xfrm>
          <a:prstGeom prst="rect">
            <a:avLst/>
          </a:prstGeom>
          <a:solidFill>
            <a:srgbClr val="2D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t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7" y="1307592"/>
            <a:ext cx="2971800" cy="347472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>
              <a:defRPr sz="1500" b="1">
                <a:solidFill>
                  <a:srgbClr val="141F30"/>
                </a:solidFill>
                <a:latin typeface="Aptos"/>
              </a:defRPr>
            </a:pPr>
            <a:r>
              <a:rPr/>
              <a:t>Core stack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1709928"/>
            <a:ext cx="2971800" cy="38862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>
              <a:defRPr sz="1500">
                <a:solidFill>
                  <a:srgbClr val="1E1E1E"/>
                </a:solidFill>
                <a:latin typeface="Aptos"/>
              </a:defRPr>
            </a:pPr>
            <a:r>
              <a:rPr/>
              <a:t>Python</a:t>
            </a:r>
            <a:r>
              <a:t/>
            </a:r>
            <a:br/>
            <a:r>
              <a:rPr/>
              <a:t>Farama MiniGrid</a:t>
            </a:r>
            <a:r>
              <a:t/>
            </a:r>
            <a:br/>
            <a:r>
              <a:rPr/>
              <a:t>Gymnasium</a:t>
            </a:r>
            <a:r>
              <a:t/>
            </a:r>
            <a:br/>
            <a:r>
              <a:rPr/>
              <a:t>Stable-Baselines3 / PPO</a:t>
            </a:r>
            <a:r>
              <a:t/>
            </a:r>
            <a:br/>
            <a:r>
              <a:rPr/>
              <a:t>PyTorch</a:t>
            </a:r>
            <a:r>
              <a:t/>
            </a:r>
            <a:br/>
            <a:r>
              <a:rPr/>
              <a:t>NumPy / pandas</a:t>
            </a:r>
            <a:r>
              <a:t/>
            </a:r>
            <a:br/>
            <a:r>
              <a:rPr/>
              <a:t>Matplotlib</a:t>
            </a:r>
            <a:r>
              <a:t/>
            </a:r>
            <a:br/>
            <a:r>
              <a:rPr/>
              <a:t>VS Code / Jupyter</a:t>
            </a:r>
            <a:r>
              <a:t/>
            </a:r>
            <a:br/>
            <a:r>
              <a:rPr/>
              <a:t>Git / GitHub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24528" y="1188720"/>
            <a:ext cx="3520440" cy="2057400"/>
          </a:xfrm>
          <a:prstGeom prst="roundRect">
            <a:avLst/>
          </a:prstGeom>
          <a:solidFill>
            <a:srgbClr val="E8F1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t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224528" y="1188720"/>
            <a:ext cx="64008" cy="2057400"/>
          </a:xfrm>
          <a:prstGeom prst="rect">
            <a:avLst/>
          </a:prstGeom>
          <a:solidFill>
            <a:srgbClr val="2D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t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425696" y="1307592"/>
            <a:ext cx="3154680" cy="347472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>
              <a:defRPr sz="1500" b="1">
                <a:solidFill>
                  <a:srgbClr val="141F30"/>
                </a:solidFill>
                <a:latin typeface="Aptos"/>
              </a:defRPr>
            </a:pPr>
            <a:r>
              <a:rPr/>
              <a:t>MiniGrid + Gymnasium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5696" y="1709928"/>
            <a:ext cx="3154680" cy="14173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>
              <a:defRPr sz="1300">
                <a:solidFill>
                  <a:srgbClr val="1E1E1E"/>
                </a:solidFill>
                <a:latin typeface="Aptos"/>
              </a:defRPr>
            </a:pPr>
            <a:r>
              <a:rPr/>
              <a:t>MiniGrid provides the environment, observations, actions, rewards, and episode termination. Gymnasium provides the standard environment interaction interface: reset → observation → action → next observation/reward.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73568" y="1188720"/>
            <a:ext cx="3520440" cy="2057400"/>
          </a:xfrm>
          <a:prstGeom prst="roundRect">
            <a:avLst/>
          </a:prstGeom>
          <a:solidFill>
            <a:srgbClr val="E7F6F3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t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973568" y="1188720"/>
            <a:ext cx="64008" cy="2057400"/>
          </a:xfrm>
          <a:prstGeom prst="rect">
            <a:avLst/>
          </a:prstGeom>
          <a:solidFill>
            <a:srgbClr val="2487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t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174736" y="1307592"/>
            <a:ext cx="3154680" cy="347472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>
              <a:defRPr sz="1500" b="1">
                <a:solidFill>
                  <a:srgbClr val="141F30"/>
                </a:solidFill>
                <a:latin typeface="Aptos"/>
              </a:defRPr>
            </a:pPr>
            <a:r>
              <a:rPr/>
              <a:t>PPO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74736" y="1709928"/>
            <a:ext cx="3154680" cy="14173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>
              <a:defRPr sz="1300">
                <a:solidFill>
                  <a:srgbClr val="1E1E1E"/>
                </a:solidFill>
                <a:latin typeface="Aptos"/>
              </a:defRPr>
            </a:pPr>
            <a:r>
              <a:rPr/>
              <a:t>PPO is the initial RL algorithm. It learns a policy from interaction data and updates the policy while limiting excessively large policy changes.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24528" y="3520440"/>
            <a:ext cx="7269480" cy="2194560"/>
          </a:xfrm>
          <a:prstGeom prst="roundRect">
            <a:avLst/>
          </a:prstGeom>
          <a:solidFill>
            <a:srgbClr val="E8F6EC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t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224528" y="3520440"/>
            <a:ext cx="64008" cy="2194560"/>
          </a:xfrm>
          <a:prstGeom prst="rect">
            <a:avLst/>
          </a:prstGeom>
          <a:solidFill>
            <a:srgbClr val="2D91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t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425696" y="3639312"/>
            <a:ext cx="6903720" cy="347472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>
              <a:defRPr sz="1500" b="1">
                <a:solidFill>
                  <a:srgbClr val="141F30"/>
                </a:solidFill>
                <a:latin typeface="Aptos"/>
              </a:defRPr>
            </a:pPr>
            <a:r>
              <a:rPr/>
              <a:t>Our implementation — Curriculum Manager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25696" y="4041648"/>
            <a:ext cx="6903720" cy="15544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>
              <a:defRPr sz="1500">
                <a:solidFill>
                  <a:srgbClr val="1E1E1E"/>
                </a:solidFill>
                <a:latin typeface="Aptos"/>
              </a:defRPr>
            </a:pPr>
            <a:r>
              <a:rPr/>
              <a:t>A Python module that reads evaluation metrics such as success rate, average reward, episode steps, and learning progress. It outputs a curriculum decision: INCREASE difficulty or KEEP training at the current level. The exact threshold/rule will be experimentally selected.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4360" y="6419088"/>
            <a:ext cx="10972800" cy="18288"/>
          </a:xfrm>
          <a:prstGeom prst="rect">
            <a:avLst/>
          </a:prstGeom>
          <a:solidFill>
            <a:srgbClr val="DC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t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21792" y="6455664"/>
            <a:ext cx="10789920" cy="2286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>
              <a:defRPr sz="700">
                <a:solidFill>
                  <a:srgbClr val="5A6470"/>
                </a:solidFill>
                <a:latin typeface="Aptos"/>
              </a:defRPr>
            </a:pPr>
            <a:r>
              <a:rPr/>
              <a:t>Farama's training tutorial demonstrates PPO with Stable-Baselines3 on MiniGrid and uses a custom feature extractor for MiniGrid observations. citeturn0search0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t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10972800" cy="56692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>
              <a:defRPr sz="2700" b="1">
                <a:solidFill>
                  <a:srgbClr val="141F30"/>
                </a:solidFill>
                <a:latin typeface="Aptos Display"/>
              </a:defRPr>
            </a:pPr>
            <a:r>
              <a:rPr/>
              <a:t>3. Developing Environment — PPO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41248"/>
            <a:ext cx="10789920" cy="2743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>
              <a:defRPr sz="1100">
                <a:solidFill>
                  <a:srgbClr val="5A6470"/>
                </a:solidFill>
                <a:latin typeface="Aptos"/>
              </a:defRPr>
            </a:pPr>
            <a:r>
              <a:rPr/>
              <a:t>PPO = Proximal Policy Optimization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188720"/>
            <a:ext cx="3429000" cy="4526280"/>
          </a:xfrm>
          <a:prstGeom prst="roundRect">
            <a:avLst/>
          </a:prstGeom>
          <a:solidFill>
            <a:srgbClr val="E8F1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t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" y="1188720"/>
            <a:ext cx="64008" cy="4526280"/>
          </a:xfrm>
          <a:prstGeom prst="rect">
            <a:avLst/>
          </a:prstGeom>
          <a:solidFill>
            <a:srgbClr val="2D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t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7" y="1307592"/>
            <a:ext cx="3063240" cy="347472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>
              <a:defRPr sz="1500" b="1">
                <a:solidFill>
                  <a:srgbClr val="141F30"/>
                </a:solidFill>
                <a:latin typeface="Aptos"/>
              </a:defRPr>
            </a:pPr>
            <a:r>
              <a:rPr/>
              <a:t>What is PPO?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1709928"/>
            <a:ext cx="3063240" cy="38862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>
              <a:defRPr sz="1500">
                <a:solidFill>
                  <a:srgbClr val="1E1E1E"/>
                </a:solidFill>
                <a:latin typeface="Aptos"/>
              </a:defRPr>
            </a:pPr>
            <a:r>
              <a:rPr/>
              <a:t>PPO is a policy-gradient reinforcement-learning algorithm.</a:t>
            </a:r>
            <a:r>
              <a:t/>
            </a:r>
            <a:br/>
            <a:r>
              <a:t/>
            </a:r>
            <a:br/>
            <a:r>
              <a:rPr/>
              <a:t>The agent learns a policy: a mapping from observations to probabilities of taking available actions.</a:t>
            </a:r>
            <a:r>
              <a:t/>
            </a:r>
            <a:br/>
            <a:r>
              <a:t/>
            </a:r>
            <a:br/>
            <a:r>
              <a:rPr/>
              <a:t>Instead of being given the correct action, it learns from rewards produced by trial-and-error interaction with the environment.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15968" y="1188720"/>
            <a:ext cx="3429000" cy="4526280"/>
          </a:xfrm>
          <a:prstGeom prst="roundRect">
            <a:avLst/>
          </a:prstGeom>
          <a:solidFill>
            <a:srgbClr val="E7F6F3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t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315968" y="1188720"/>
            <a:ext cx="64008" cy="4526280"/>
          </a:xfrm>
          <a:prstGeom prst="rect">
            <a:avLst/>
          </a:prstGeom>
          <a:solidFill>
            <a:srgbClr val="2487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t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17136" y="1307592"/>
            <a:ext cx="3063240" cy="347472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>
              <a:defRPr sz="1500" b="1">
                <a:solidFill>
                  <a:srgbClr val="141F30"/>
                </a:solidFill>
                <a:latin typeface="Aptos"/>
              </a:defRPr>
            </a:pPr>
            <a:r>
              <a:rPr/>
              <a:t>How PPO learns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17136" y="1709928"/>
            <a:ext cx="3063240" cy="38862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>
              <a:defRPr sz="1500">
                <a:solidFill>
                  <a:srgbClr val="1E1E1E"/>
                </a:solidFill>
                <a:latin typeface="Aptos"/>
              </a:defRPr>
            </a:pPr>
            <a:r>
              <a:rPr/>
              <a:t>1. Collect a batch of trajectories.</a:t>
            </a:r>
            <a:r>
              <a:t/>
            </a:r>
            <a:br/>
            <a:r>
              <a:rPr/>
              <a:t>2. Calculate rewards/returns and advantages.</a:t>
            </a:r>
            <a:r>
              <a:t/>
            </a:r>
            <a:br/>
            <a:r>
              <a:rPr/>
              <a:t>3. Update the policy using the collected experience.</a:t>
            </a:r>
            <a:r>
              <a:t/>
            </a:r>
            <a:br/>
            <a:r>
              <a:rPr/>
              <a:t>4. Use clipping so the new policy does not move too far from the old policy in one update.</a:t>
            </a:r>
            <a:r>
              <a:t/>
            </a:r>
            <a:br/>
            <a:r>
              <a:rPr/>
              <a:t>5. Repeat for many batches/episodes.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91856" y="1188720"/>
            <a:ext cx="3520440" cy="4526280"/>
          </a:xfrm>
          <a:prstGeom prst="roundRect">
            <a:avLst/>
          </a:prstGeom>
          <a:solidFill>
            <a:srgbClr val="E8F6EC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t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991856" y="1188720"/>
            <a:ext cx="64008" cy="4526280"/>
          </a:xfrm>
          <a:prstGeom prst="rect">
            <a:avLst/>
          </a:prstGeom>
          <a:solidFill>
            <a:srgbClr val="2D91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t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193024" y="1307592"/>
            <a:ext cx="3154680" cy="347472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>
              <a:defRPr sz="1500" b="1">
                <a:solidFill>
                  <a:srgbClr val="141F30"/>
                </a:solidFill>
                <a:latin typeface="Aptos"/>
              </a:defRPr>
            </a:pPr>
            <a:r>
              <a:rPr/>
              <a:t>Why PPO for this project?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93024" y="1709928"/>
            <a:ext cx="3154680" cy="38862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>
              <a:defRPr sz="1400">
                <a:solidFill>
                  <a:srgbClr val="1E1E1E"/>
                </a:solidFill>
                <a:latin typeface="Aptos"/>
              </a:defRPr>
            </a:pPr>
            <a:r>
              <a:rPr/>
              <a:t>• Widely used and well-supported.</a:t>
            </a:r>
            <a:r>
              <a:t/>
            </a:r>
            <a:br/>
            <a:r>
              <a:rPr/>
              <a:t>• Works with Gymnasium environments.</a:t>
            </a:r>
            <a:r>
              <a:t/>
            </a:r>
            <a:br/>
            <a:r>
              <a:rPr/>
              <a:t>• Farama provides a MiniGrid PPO training tutorial.</a:t>
            </a:r>
            <a:r>
              <a:t/>
            </a:r>
            <a:br/>
            <a:r>
              <a:rPr/>
              <a:t>• Suitable as a baseline RL learner, allowing us to focus our research contribution on adaptive curriculum rather than inventing a new RL algorithm.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" y="6419088"/>
            <a:ext cx="10972800" cy="18288"/>
          </a:xfrm>
          <a:prstGeom prst="rect">
            <a:avLst/>
          </a:prstGeom>
          <a:solidFill>
            <a:srgbClr val="DC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t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21792" y="6455664"/>
            <a:ext cx="10789920" cy="2286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>
              <a:defRPr sz="700">
                <a:solidFill>
                  <a:srgbClr val="5A6470"/>
                </a:solidFill>
                <a:latin typeface="Aptos"/>
              </a:defRPr>
            </a:pPr>
            <a:r>
              <a:rPr/>
              <a:t>PPO was introduced by Schulman et al. (2017). Its core idea alternates environment interaction with optimization of a clipped surrogate objective, allowing multiple minibatch updates while limiting overly large policy changes. citeturn0academia12turn0search13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t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10972800" cy="56692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>
              <a:defRPr sz="2700" b="1">
                <a:solidFill>
                  <a:srgbClr val="141F30"/>
                </a:solidFill>
                <a:latin typeface="Aptos Display"/>
              </a:defRPr>
            </a:pPr>
            <a:r>
              <a:rPr/>
              <a:t>3. Developing Environment — PPO in Multi Room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41248"/>
            <a:ext cx="10789920" cy="2743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>
              <a:defRPr sz="1100">
                <a:solidFill>
                  <a:srgbClr val="5A6470"/>
                </a:solidFill>
                <a:latin typeface="Aptos"/>
              </a:defRPr>
            </a:pPr>
            <a:r>
              <a:rPr/>
              <a:t>A concrete example of one learning cycle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143000"/>
            <a:ext cx="2057400" cy="685800"/>
          </a:xfrm>
          <a:prstGeom prst="roundRect">
            <a:avLst/>
          </a:prstGeom>
          <a:solidFill>
            <a:srgbClr val="F4F6F8"/>
          </a:solidFill>
          <a:ln>
            <a:solidFill>
              <a:srgbClr val="2D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t"/>
          <a:lstStyle/>
          <a:p>
            <a:pPr algn="ctr">
              <a:defRPr sz="1500" b="1">
                <a:solidFill>
                  <a:srgbClr val="141F30"/>
                </a:solidFill>
                <a:latin typeface="Aptos"/>
              </a:defRPr>
            </a:pPr>
            <a:r>
              <a:rPr/>
              <a:t>Observation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063240" y="1143000"/>
            <a:ext cx="8183879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t"/>
          <a:lstStyle/>
          <a:p>
            <a:pPr algn="ctr">
              <a:defRPr sz="1300">
                <a:solidFill>
                  <a:srgbClr val="1E1E1E"/>
                </a:solidFill>
                <a:latin typeface="Aptos"/>
              </a:defRPr>
            </a:pPr>
            <a:r>
              <a:rPr/>
              <a:t>Agent sees its partial grid view + direction + mission</a:t>
            </a:r>
          </a:p>
        </p:txBody>
      </p:sp>
      <p:sp>
        <p:nvSpPr>
          <p:cNvPr id="7" name="Down Arrow 6"/>
          <p:cNvSpPr/>
          <p:nvPr/>
        </p:nvSpPr>
        <p:spPr>
          <a:xfrm>
            <a:off x="1572768" y="1837943"/>
            <a:ext cx="347472" cy="228600"/>
          </a:xfrm>
          <a:prstGeom prst="downArrow">
            <a:avLst/>
          </a:prstGeom>
          <a:solidFill>
            <a:srgbClr val="BEC6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t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731520" y="2084832"/>
            <a:ext cx="2057400" cy="685800"/>
          </a:xfrm>
          <a:prstGeom prst="roundRect">
            <a:avLst/>
          </a:prstGeom>
          <a:solidFill>
            <a:srgbClr val="F4F6F8"/>
          </a:solidFill>
          <a:ln>
            <a:solidFill>
              <a:srgbClr val="2487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t"/>
          <a:lstStyle/>
          <a:p>
            <a:pPr algn="ctr">
              <a:defRPr sz="1500" b="1">
                <a:solidFill>
                  <a:srgbClr val="141F30"/>
                </a:solidFill>
                <a:latin typeface="Aptos"/>
              </a:defRPr>
            </a:pPr>
            <a:r>
              <a:rPr/>
              <a:t>Policy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063240" y="2084832"/>
            <a:ext cx="8183879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t"/>
          <a:lstStyle/>
          <a:p>
            <a:pPr algn="ctr">
              <a:defRPr sz="1300">
                <a:solidFill>
                  <a:srgbClr val="1E1E1E"/>
                </a:solidFill>
                <a:latin typeface="Aptos"/>
              </a:defRPr>
            </a:pPr>
            <a:r>
              <a:rPr/>
              <a:t>PPO estimates probabilities for actions: left, right, forward, pickup, drop, toggle, done</a:t>
            </a:r>
          </a:p>
        </p:txBody>
      </p:sp>
      <p:sp>
        <p:nvSpPr>
          <p:cNvPr id="10" name="Down Arrow 9"/>
          <p:cNvSpPr/>
          <p:nvPr/>
        </p:nvSpPr>
        <p:spPr>
          <a:xfrm>
            <a:off x="1572768" y="2779776"/>
            <a:ext cx="347472" cy="228600"/>
          </a:xfrm>
          <a:prstGeom prst="downArrow">
            <a:avLst/>
          </a:prstGeom>
          <a:solidFill>
            <a:srgbClr val="BEC6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t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731520" y="3026664"/>
            <a:ext cx="2057400" cy="685800"/>
          </a:xfrm>
          <a:prstGeom prst="roundRect">
            <a:avLst/>
          </a:prstGeom>
          <a:solidFill>
            <a:srgbClr val="F4F6F8"/>
          </a:solidFill>
          <a:ln>
            <a:solidFill>
              <a:srgbClr val="E082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t"/>
          <a:lstStyle/>
          <a:p>
            <a:pPr algn="ctr">
              <a:defRPr sz="1500" b="1">
                <a:solidFill>
                  <a:srgbClr val="141F30"/>
                </a:solidFill>
                <a:latin typeface="Aptos"/>
              </a:defRPr>
            </a:pPr>
            <a:r>
              <a:rPr/>
              <a:t>Action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063240" y="3026664"/>
            <a:ext cx="8183879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t"/>
          <a:lstStyle/>
          <a:p>
            <a:pPr algn="ctr">
              <a:defRPr sz="1300">
                <a:solidFill>
                  <a:srgbClr val="1E1E1E"/>
                </a:solidFill>
                <a:latin typeface="Aptos"/>
              </a:defRPr>
            </a:pPr>
            <a:r>
              <a:rPr/>
              <a:t>Example: FORWARD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1572768" y="3721608"/>
            <a:ext cx="347472" cy="228600"/>
          </a:xfrm>
          <a:prstGeom prst="downArrow">
            <a:avLst/>
          </a:prstGeom>
          <a:solidFill>
            <a:srgbClr val="BEC6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t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731520" y="3968496"/>
            <a:ext cx="2057400" cy="685800"/>
          </a:xfrm>
          <a:prstGeom prst="roundRect">
            <a:avLst/>
          </a:prstGeom>
          <a:solidFill>
            <a:srgbClr val="F4F6F8"/>
          </a:solidFill>
          <a:ln>
            <a:solidFill>
              <a:srgbClr val="6E5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t"/>
          <a:lstStyle/>
          <a:p>
            <a:pPr algn="ctr">
              <a:defRPr sz="1500" b="1">
                <a:solidFill>
                  <a:srgbClr val="141F30"/>
                </a:solidFill>
                <a:latin typeface="Aptos"/>
              </a:defRPr>
            </a:pPr>
            <a:r>
              <a:rPr/>
              <a:t>Environment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063240" y="3968496"/>
            <a:ext cx="8183879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t"/>
          <a:lstStyle/>
          <a:p>
            <a:pPr algn="ctr">
              <a:defRPr sz="1300">
                <a:solidFill>
                  <a:srgbClr val="1E1E1E"/>
                </a:solidFill>
                <a:latin typeface="Aptos"/>
              </a:defRPr>
            </a:pPr>
            <a:r>
              <a:rPr/>
              <a:t>Multi Room moves the agent and returns reward + next observation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1572768" y="4663440"/>
            <a:ext cx="347472" cy="228600"/>
          </a:xfrm>
          <a:prstGeom prst="downArrow">
            <a:avLst/>
          </a:prstGeom>
          <a:solidFill>
            <a:srgbClr val="BEC6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t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731520" y="4910328"/>
            <a:ext cx="2057400" cy="685800"/>
          </a:xfrm>
          <a:prstGeom prst="roundRect">
            <a:avLst/>
          </a:prstGeom>
          <a:solidFill>
            <a:srgbClr val="F4F6F8"/>
          </a:solidFill>
          <a:ln>
            <a:solidFill>
              <a:srgbClr val="2D91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t"/>
          <a:lstStyle/>
          <a:p>
            <a:pPr algn="ctr">
              <a:defRPr sz="1500" b="1">
                <a:solidFill>
                  <a:srgbClr val="141F30"/>
                </a:solidFill>
                <a:latin typeface="Aptos"/>
              </a:defRPr>
            </a:pPr>
            <a:r>
              <a:rPr/>
              <a:t>Update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063240" y="4910328"/>
            <a:ext cx="8183879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t"/>
          <a:lstStyle/>
          <a:p>
            <a:pPr algn="ctr">
              <a:defRPr sz="1300">
                <a:solidFill>
                  <a:srgbClr val="1E1E1E"/>
                </a:solidFill>
                <a:latin typeface="Aptos"/>
              </a:defRPr>
            </a:pPr>
            <a:r>
              <a:rPr/>
              <a:t>PPO uses collected experience to improve the policy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063240" y="5989320"/>
            <a:ext cx="8183879" cy="320040"/>
          </a:xfrm>
          <a:prstGeom prst="roundRect">
            <a:avLst/>
          </a:prstGeom>
          <a:solidFill>
            <a:srgbClr val="E8F6EC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t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3063240" y="5989320"/>
            <a:ext cx="64008" cy="320040"/>
          </a:xfrm>
          <a:prstGeom prst="rect">
            <a:avLst/>
          </a:prstGeom>
          <a:solidFill>
            <a:srgbClr val="2D91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t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264408" y="6108192"/>
            <a:ext cx="7818119" cy="347472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>
              <a:defRPr sz="1500" b="1">
                <a:solidFill>
                  <a:srgbClr val="141F30"/>
                </a:solidFill>
                <a:latin typeface="Aptos"/>
              </a:defRPr>
            </a:pPr>
            <a:r>
              <a:rPr/>
              <a:t>Key point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64408" y="6510528"/>
            <a:ext cx="7818119" cy="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>
              <a:defRPr sz="1100">
                <a:solidFill>
                  <a:srgbClr val="1E1E1E"/>
                </a:solidFill>
                <a:latin typeface="Aptos"/>
              </a:defRPr>
            </a:pPr>
            <a:r>
              <a:rPr/>
              <a:t>The agent is never told the correct path. PPO learns the policy from repeated trial-and-error experience.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4360" y="6419088"/>
            <a:ext cx="10972800" cy="18288"/>
          </a:xfrm>
          <a:prstGeom prst="rect">
            <a:avLst/>
          </a:prstGeom>
          <a:solidFill>
            <a:srgbClr val="DC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t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21792" y="6455664"/>
            <a:ext cx="10789920" cy="2286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>
              <a:defRPr sz="700">
                <a:solidFill>
                  <a:srgbClr val="5A6470"/>
                </a:solidFill>
                <a:latin typeface="Aptos"/>
              </a:defRPr>
            </a:pPr>
            <a:r>
              <a:rPr/>
              <a:t>Multi Room has 7 discrete actions and observations containing direction, a 7×7×3 image, and a mission. citeturn0search2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t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10972800" cy="56692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>
              <a:defRPr sz="2700" b="1">
                <a:solidFill>
                  <a:srgbClr val="141F30"/>
                </a:solidFill>
                <a:latin typeface="Aptos Display"/>
              </a:defRPr>
            </a:pPr>
            <a:r>
              <a:rPr/>
              <a:t>4. Initial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41248"/>
            <a:ext cx="10789920" cy="2743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>
              <a:defRPr sz="1100">
                <a:solidFill>
                  <a:srgbClr val="5A6470"/>
                </a:solidFill>
                <a:latin typeface="Aptos"/>
              </a:defRPr>
            </a:pPr>
            <a:r>
              <a:rPr/>
              <a:t>Progressive difficulty + performance-based advancement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143000"/>
            <a:ext cx="3154680" cy="1051560"/>
          </a:xfrm>
          <a:prstGeom prst="roundRect">
            <a:avLst/>
          </a:prstGeom>
          <a:solidFill>
            <a:srgbClr val="E8F1FA"/>
          </a:solidFill>
          <a:ln>
            <a:solidFill>
              <a:srgbClr val="2D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t"/>
          <a:lstStyle/>
          <a:p>
            <a:pPr algn="ctr">
              <a:defRPr sz="1500" b="1">
                <a:solidFill>
                  <a:srgbClr val="141F30"/>
                </a:solidFill>
                <a:latin typeface="Aptos"/>
              </a:defRPr>
            </a:pPr>
            <a:r>
              <a:rPr/>
              <a:t>Level 1</a:t>
            </a:r>
          </a:p>
          <a:p>
            <a:pPr algn="ctr">
              <a:defRPr sz="2200" b="1">
                <a:solidFill>
                  <a:srgbClr val="2D69AA"/>
                </a:solidFill>
                <a:latin typeface="Aptos"/>
              </a:defRPr>
            </a:pPr>
            <a:r>
              <a:rPr/>
              <a:t>2 rooms</a:t>
            </a:r>
          </a:p>
        </p:txBody>
      </p:sp>
      <p:sp>
        <p:nvSpPr>
          <p:cNvPr id="6" name="Chevron 5"/>
          <p:cNvSpPr/>
          <p:nvPr/>
        </p:nvSpPr>
        <p:spPr>
          <a:xfrm>
            <a:off x="3977639" y="1444752"/>
            <a:ext cx="411480" cy="457200"/>
          </a:xfrm>
          <a:prstGeom prst="chevron">
            <a:avLst/>
          </a:prstGeom>
          <a:solidFill>
            <a:srgbClr val="B9C3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t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4526280" y="1143000"/>
            <a:ext cx="3154680" cy="1051560"/>
          </a:xfrm>
          <a:prstGeom prst="roundRect">
            <a:avLst/>
          </a:prstGeom>
          <a:solidFill>
            <a:srgbClr val="E7F6F3"/>
          </a:solidFill>
          <a:ln>
            <a:solidFill>
              <a:srgbClr val="2487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t"/>
          <a:lstStyle/>
          <a:p>
            <a:pPr algn="ctr">
              <a:defRPr sz="1500" b="1">
                <a:solidFill>
                  <a:srgbClr val="141F30"/>
                </a:solidFill>
                <a:latin typeface="Aptos"/>
              </a:defRPr>
            </a:pPr>
            <a:r>
              <a:rPr/>
              <a:t>Level 2</a:t>
            </a:r>
          </a:p>
          <a:p>
            <a:pPr algn="ctr">
              <a:defRPr sz="2200" b="1">
                <a:solidFill>
                  <a:srgbClr val="24877D"/>
                </a:solidFill>
                <a:latin typeface="Aptos"/>
              </a:defRPr>
            </a:pPr>
            <a:r>
              <a:rPr/>
              <a:t>4 rooms</a:t>
            </a:r>
          </a:p>
        </p:txBody>
      </p:sp>
      <p:sp>
        <p:nvSpPr>
          <p:cNvPr id="8" name="Chevron 7"/>
          <p:cNvSpPr/>
          <p:nvPr/>
        </p:nvSpPr>
        <p:spPr>
          <a:xfrm>
            <a:off x="7772400" y="1444752"/>
            <a:ext cx="411480" cy="457200"/>
          </a:xfrm>
          <a:prstGeom prst="chevron">
            <a:avLst/>
          </a:prstGeom>
          <a:solidFill>
            <a:srgbClr val="B9C3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t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321040" y="1143000"/>
            <a:ext cx="3154680" cy="1051560"/>
          </a:xfrm>
          <a:prstGeom prst="roundRect">
            <a:avLst/>
          </a:prstGeom>
          <a:solidFill>
            <a:srgbClr val="FCF0E2"/>
          </a:solidFill>
          <a:ln>
            <a:solidFill>
              <a:srgbClr val="E082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t"/>
          <a:lstStyle/>
          <a:p>
            <a:pPr algn="ctr">
              <a:defRPr sz="1500" b="1">
                <a:solidFill>
                  <a:srgbClr val="141F30"/>
                </a:solidFill>
                <a:latin typeface="Aptos"/>
              </a:defRPr>
            </a:pPr>
            <a:r>
              <a:rPr/>
              <a:t>Level 3</a:t>
            </a:r>
          </a:p>
          <a:p>
            <a:pPr algn="ctr">
              <a:defRPr sz="2200" b="1">
                <a:solidFill>
                  <a:srgbClr val="E0822D"/>
                </a:solidFill>
                <a:latin typeface="Aptos"/>
              </a:defRPr>
            </a:pPr>
            <a:r>
              <a:rPr/>
              <a:t>6 rooms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560320"/>
            <a:ext cx="5074920" cy="2514600"/>
          </a:xfrm>
          <a:prstGeom prst="roundRect">
            <a:avLst/>
          </a:prstGeom>
          <a:solidFill>
            <a:srgbClr val="E8F6EC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t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31520" y="2560320"/>
            <a:ext cx="64008" cy="2514600"/>
          </a:xfrm>
          <a:prstGeom prst="rect">
            <a:avLst/>
          </a:prstGeom>
          <a:solidFill>
            <a:srgbClr val="2D91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t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32688" y="2679191"/>
            <a:ext cx="4709159" cy="347472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>
              <a:defRPr sz="1500" b="1">
                <a:solidFill>
                  <a:srgbClr val="141F30"/>
                </a:solidFill>
                <a:latin typeface="Aptos"/>
              </a:defRPr>
            </a:pPr>
            <a:r>
              <a:rPr/>
              <a:t>Curriculum Manager decision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3081527"/>
            <a:ext cx="4709159" cy="1874519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>
              <a:defRPr sz="1400">
                <a:solidFill>
                  <a:srgbClr val="1E1E1E"/>
                </a:solidFill>
                <a:latin typeface="Aptos"/>
              </a:defRPr>
            </a:pPr>
            <a:r>
              <a:rPr/>
              <a:t>After an evaluation window, calculate performance.</a:t>
            </a:r>
            <a:r>
              <a:t/>
            </a:r>
            <a:br/>
            <a:r>
              <a:t/>
            </a:r>
            <a:br/>
            <a:r>
              <a:rPr/>
              <a:t>If the agent consistently satisfies the readiness criterion → move to the next level.</a:t>
            </a:r>
            <a:r>
              <a:t/>
            </a:r>
            <a:br/>
            <a:r>
              <a:t/>
            </a:r>
            <a:br/>
            <a:r>
              <a:rPr/>
              <a:t>If not → continue training at the current level.</a:t>
            </a:r>
            <a:r>
              <a:t/>
            </a:r>
            <a:br/>
            <a:r>
              <a:t/>
            </a:r>
            <a:br/>
            <a:r>
              <a:rPr/>
              <a:t>The threshold is a tunable experimental parameter, not a universal fact.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35040" y="2560320"/>
            <a:ext cx="5349240" cy="2514600"/>
          </a:xfrm>
          <a:prstGeom prst="roundRect">
            <a:avLst/>
          </a:prstGeom>
          <a:solidFill>
            <a:srgbClr val="E8F1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t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035040" y="2560320"/>
            <a:ext cx="64008" cy="2514600"/>
          </a:xfrm>
          <a:prstGeom prst="rect">
            <a:avLst/>
          </a:prstGeom>
          <a:solidFill>
            <a:srgbClr val="2D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t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236207" y="2679191"/>
            <a:ext cx="4983479" cy="347472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>
              <a:defRPr sz="1500" b="1">
                <a:solidFill>
                  <a:srgbClr val="141F30"/>
                </a:solidFill>
                <a:latin typeface="Aptos"/>
              </a:defRPr>
            </a:pPr>
            <a:r>
              <a:rPr/>
              <a:t>Difficulty definition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36207" y="3081527"/>
            <a:ext cx="4983479" cy="1874519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>
              <a:defRPr sz="1400">
                <a:solidFill>
                  <a:srgbClr val="1E1E1E"/>
                </a:solidFill>
                <a:latin typeface="Aptos"/>
              </a:defRPr>
            </a:pPr>
            <a:r>
              <a:rPr/>
              <a:t>Environment difficulty is controlled by parameters such as number of rooms, room/map complexity and episode step limit. The environment defines difficulty; the Curriculum Manager decides readiness.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5394960"/>
            <a:ext cx="10652760" cy="548640"/>
          </a:xfrm>
          <a:prstGeom prst="roundRect">
            <a:avLst/>
          </a:prstGeom>
          <a:solidFill>
            <a:srgbClr val="FCF0E2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t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31520" y="5394960"/>
            <a:ext cx="64008" cy="548640"/>
          </a:xfrm>
          <a:prstGeom prst="rect">
            <a:avLst/>
          </a:prstGeom>
          <a:solidFill>
            <a:srgbClr val="E08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t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32688" y="5513832"/>
            <a:ext cx="10287000" cy="347472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>
              <a:defRPr sz="1500" b="1">
                <a:solidFill>
                  <a:srgbClr val="141F30"/>
                </a:solidFill>
                <a:latin typeface="Aptos"/>
              </a:defRPr>
            </a:pPr>
            <a:r>
              <a:rPr/>
              <a:t>Baselines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" y="5916168"/>
            <a:ext cx="10287000" cy="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>
              <a:defRPr sz="1400">
                <a:solidFill>
                  <a:srgbClr val="1E1E1E"/>
                </a:solidFill>
                <a:latin typeface="Aptos"/>
              </a:defRPr>
            </a:pPr>
            <a:r>
              <a:rPr/>
              <a:t>Direct PPO → difficult task | Fixed curriculum → predefined 2→4→6 | Adaptive curriculum → progression based on learning performance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4360" y="6419088"/>
            <a:ext cx="10972800" cy="18288"/>
          </a:xfrm>
          <a:prstGeom prst="rect">
            <a:avLst/>
          </a:prstGeom>
          <a:solidFill>
            <a:srgbClr val="DC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t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21792" y="6455664"/>
            <a:ext cx="10789920" cy="2286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>
              <a:defRPr sz="700">
                <a:solidFill>
                  <a:srgbClr val="5A6470"/>
                </a:solidFill>
                <a:latin typeface="Aptos"/>
              </a:defRPr>
            </a:pPr>
            <a:r>
              <a:rPr/>
              <a:t>Official Multi Room configurations include 2-, 4-, and 6-room versions. When max_steps is None, the documented default is maxNumRooms × 20. citeturn0search2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t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10972800" cy="56692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>
              <a:defRPr sz="2700" b="1">
                <a:solidFill>
                  <a:srgbClr val="141F30"/>
                </a:solidFill>
                <a:latin typeface="Aptos Display"/>
              </a:defRPr>
            </a:pPr>
            <a:r>
              <a:rPr/>
              <a:t>5. Data Source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41248"/>
            <a:ext cx="10789920" cy="2743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>
              <a:defRPr sz="1100">
                <a:solidFill>
                  <a:srgbClr val="5A6470"/>
                </a:solidFill>
                <a:latin typeface="Aptos"/>
              </a:defRPr>
            </a:pPr>
            <a:r>
              <a:rPr/>
              <a:t>What exists already, and what data our experiments will generate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143000"/>
            <a:ext cx="5257800" cy="2148840"/>
          </a:xfrm>
          <a:prstGeom prst="roundRect">
            <a:avLst/>
          </a:prstGeom>
          <a:solidFill>
            <a:srgbClr val="E8F1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t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" y="1143000"/>
            <a:ext cx="64008" cy="2148840"/>
          </a:xfrm>
          <a:prstGeom prst="rect">
            <a:avLst/>
          </a:prstGeom>
          <a:solidFill>
            <a:srgbClr val="2D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t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7" y="1261872"/>
            <a:ext cx="4892040" cy="347472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>
              <a:defRPr sz="1500" b="1">
                <a:solidFill>
                  <a:srgbClr val="141F30"/>
                </a:solidFill>
                <a:latin typeface="Aptos"/>
              </a:defRPr>
            </a:pPr>
            <a:r>
              <a:rPr/>
              <a:t>Existing project: not a static dataset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1664207"/>
            <a:ext cx="4892040" cy="150876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>
              <a:defRPr sz="1500">
                <a:solidFill>
                  <a:srgbClr val="1E1E1E"/>
                </a:solidFill>
                <a:latin typeface="Aptos"/>
              </a:defRPr>
            </a:pPr>
            <a:r>
              <a:rPr/>
              <a:t>MiniGrid Multi Room is a programmatically generated RL environment. The existing project defines how rooms are generated and how observations, actions, rewards and termination are produced. It is not a conventional CSV/image dataset.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80760" y="1143000"/>
            <a:ext cx="5440680" cy="2148840"/>
          </a:xfrm>
          <a:prstGeom prst="roundRect">
            <a:avLst/>
          </a:prstGeom>
          <a:solidFill>
            <a:srgbClr val="E7F6F3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t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080760" y="1143000"/>
            <a:ext cx="64008" cy="2148840"/>
          </a:xfrm>
          <a:prstGeom prst="rect">
            <a:avLst/>
          </a:prstGeom>
          <a:solidFill>
            <a:srgbClr val="2487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t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281928" y="1261872"/>
            <a:ext cx="5074920" cy="347472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>
              <a:defRPr sz="1500" b="1">
                <a:solidFill>
                  <a:srgbClr val="141F30"/>
                </a:solidFill>
                <a:latin typeface="Aptos"/>
              </a:defRPr>
            </a:pPr>
            <a:r>
              <a:rPr/>
              <a:t>Exact Multi Room interaction data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81928" y="1664207"/>
            <a:ext cx="5074920" cy="150876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>
              <a:defRPr sz="1400">
                <a:solidFill>
                  <a:srgbClr val="1E1E1E"/>
                </a:solidFill>
                <a:latin typeface="Aptos"/>
              </a:defRPr>
            </a:pPr>
            <a:r>
              <a:rPr/>
              <a:t>Observation: direction + image (7×7×3) + mission</a:t>
            </a:r>
            <a:r>
              <a:t/>
            </a:r>
            <a:br/>
            <a:r>
              <a:rPr/>
              <a:t>Action: 7 discrete actions</a:t>
            </a:r>
            <a:r>
              <a:t/>
            </a:r>
            <a:br/>
            <a:r>
              <a:rPr/>
              <a:t>Reward: 1 − 0.9 × (step_count / max_steps) on success; 0 on failure</a:t>
            </a:r>
            <a:r>
              <a:t/>
            </a:r>
            <a:br/>
            <a:r>
              <a:rPr/>
              <a:t>Episode ends at goal or timeout.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611880"/>
            <a:ext cx="5257800" cy="2103120"/>
          </a:xfrm>
          <a:prstGeom prst="roundRect">
            <a:avLst/>
          </a:prstGeom>
          <a:solidFill>
            <a:srgbClr val="FCF0E2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t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40080" y="3611880"/>
            <a:ext cx="64008" cy="2103120"/>
          </a:xfrm>
          <a:prstGeom prst="rect">
            <a:avLst/>
          </a:prstGeom>
          <a:solidFill>
            <a:srgbClr val="E08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t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41247" y="3730752"/>
            <a:ext cx="4892040" cy="347472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>
              <a:defRPr sz="1500" b="1">
                <a:solidFill>
                  <a:srgbClr val="141F30"/>
                </a:solidFill>
                <a:latin typeface="Aptos"/>
              </a:defRPr>
            </a:pPr>
            <a:r>
              <a:rPr/>
              <a:t>Our experimental data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7" y="4133088"/>
            <a:ext cx="4892040" cy="1463039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>
              <a:defRPr sz="1400">
                <a:solidFill>
                  <a:srgbClr val="1E1E1E"/>
                </a:solidFill>
                <a:latin typeface="Aptos"/>
              </a:defRPr>
            </a:pPr>
            <a:r>
              <a:rPr/>
              <a:t>We will collect trajectories while PPO interacts with Multi Room at the selected levels:</a:t>
            </a:r>
            <a:r>
              <a:t/>
            </a:r>
            <a:br/>
            <a:r>
              <a:rPr/>
              <a:t>2 rooms → 4 rooms → 6 rooms.</a:t>
            </a:r>
            <a:r>
              <a:t/>
            </a:r>
            <a:br/>
            <a:r>
              <a:t/>
            </a:r>
            <a:br/>
            <a:r>
              <a:rPr/>
              <a:t>Each record can include episode, observation, action, reward, steps, success/failure and difficulty level.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80760" y="3611880"/>
            <a:ext cx="5440680" cy="2103120"/>
          </a:xfrm>
          <a:prstGeom prst="roundRect">
            <a:avLst/>
          </a:prstGeom>
          <a:solidFill>
            <a:srgbClr val="E8F6EC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t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080760" y="3611880"/>
            <a:ext cx="64008" cy="2103120"/>
          </a:xfrm>
          <a:prstGeom prst="rect">
            <a:avLst/>
          </a:prstGeom>
          <a:solidFill>
            <a:srgbClr val="2D91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t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281928" y="3730752"/>
            <a:ext cx="5074920" cy="347472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>
              <a:defRPr sz="1500" b="1">
                <a:solidFill>
                  <a:srgbClr val="141F30"/>
                </a:solidFill>
                <a:latin typeface="Aptos"/>
              </a:defRPr>
            </a:pPr>
            <a:r>
              <a:rPr/>
              <a:t>How data drives our contribution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81928" y="4133088"/>
            <a:ext cx="5074920" cy="1463039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>
              <a:defRPr sz="1500">
                <a:solidFill>
                  <a:srgbClr val="1E1E1E"/>
                </a:solidFill>
                <a:latin typeface="Aptos"/>
              </a:defRPr>
            </a:pPr>
            <a:r>
              <a:rPr/>
              <a:t>The interaction data is summarized into metrics such as success rate, reward and steps. These metrics are passed to our Curriculum Manager, which decides whether the agent is ready for a harder level.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4360" y="6419088"/>
            <a:ext cx="10972800" cy="18288"/>
          </a:xfrm>
          <a:prstGeom prst="rect">
            <a:avLst/>
          </a:prstGeom>
          <a:solidFill>
            <a:srgbClr val="DC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t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21792" y="6455664"/>
            <a:ext cx="10789920" cy="2286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>
              <a:defRPr sz="700">
                <a:solidFill>
                  <a:srgbClr val="5A6470"/>
                </a:solidFill>
                <a:latin typeface="Aptos"/>
              </a:defRPr>
            </a:pPr>
            <a:r>
              <a:rPr/>
              <a:t>MiniGrid environments are programmatically tunable in size/complexity, which the official documentation identifies as useful for curriculum learning. citeturn0search8turn0search2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t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10972800" cy="56692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>
              <a:defRPr sz="2700" b="1">
                <a:solidFill>
                  <a:srgbClr val="141F30"/>
                </a:solidFill>
                <a:latin typeface="Aptos Display"/>
              </a:defRPr>
            </a:pPr>
            <a:r>
              <a:rPr/>
              <a:t>5. Data Source — Existing vs. Our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41248"/>
            <a:ext cx="10789920" cy="2743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>
              <a:defRPr sz="1100">
                <a:solidFill>
                  <a:srgbClr val="5A6470"/>
                </a:solidFill>
                <a:latin typeface="Aptos"/>
              </a:defRPr>
            </a:pPr>
            <a:r>
              <a:rPr/>
              <a:t>A slide to make the boundary between existing work and our contribution explicit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143000"/>
            <a:ext cx="3383280" cy="4526280"/>
          </a:xfrm>
          <a:prstGeom prst="roundRect">
            <a:avLst/>
          </a:prstGeom>
          <a:solidFill>
            <a:srgbClr val="E8F1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t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" y="1143000"/>
            <a:ext cx="64008" cy="4526280"/>
          </a:xfrm>
          <a:prstGeom prst="rect">
            <a:avLst/>
          </a:prstGeom>
          <a:solidFill>
            <a:srgbClr val="2D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t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7" y="1261872"/>
            <a:ext cx="3017520" cy="347472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>
              <a:defRPr sz="1500" b="1">
                <a:solidFill>
                  <a:srgbClr val="141F30"/>
                </a:solidFill>
                <a:latin typeface="Aptos"/>
              </a:defRPr>
            </a:pPr>
            <a:r>
              <a:rPr/>
              <a:t>Already exists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1664207"/>
            <a:ext cx="3017520" cy="38862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>
              <a:defRPr sz="1500">
                <a:solidFill>
                  <a:srgbClr val="1E1E1E"/>
                </a:solidFill>
                <a:latin typeface="Aptos"/>
              </a:defRPr>
            </a:pPr>
            <a:r>
              <a:rPr/>
              <a:t>MiniGrid project</a:t>
            </a:r>
            <a:r>
              <a:t/>
            </a:r>
            <a:br/>
            <a:r>
              <a:t/>
            </a:r>
            <a:br/>
            <a:r>
              <a:rPr/>
              <a:t>Multi Room environment</a:t>
            </a:r>
            <a:r>
              <a:t/>
            </a:r>
            <a:br/>
            <a:r>
              <a:t/>
            </a:r>
            <a:br/>
            <a:r>
              <a:rPr/>
              <a:t>2 / 4 / 6 room configurations</a:t>
            </a:r>
            <a:r>
              <a:t/>
            </a:r>
            <a:br/>
            <a:r>
              <a:t/>
            </a:r>
            <a:br/>
            <a:r>
              <a:rPr/>
              <a:t>Observation / action / reward definitions</a:t>
            </a:r>
            <a:r>
              <a:t/>
            </a:r>
            <a:br/>
            <a:r>
              <a:t/>
            </a:r>
            <a:br/>
            <a:r>
              <a:rPr/>
              <a:t>PPO is an existing RL algorithm</a:t>
            </a:r>
            <a:r>
              <a:t/>
            </a:r>
            <a:br/>
            <a:r>
              <a:t/>
            </a:r>
            <a:br/>
            <a:r>
              <a:rPr/>
              <a:t>Existing MiniGrid PPO training guidance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07408" y="1143000"/>
            <a:ext cx="3383280" cy="4526280"/>
          </a:xfrm>
          <a:prstGeom prst="roundRect">
            <a:avLst/>
          </a:prstGeom>
          <a:solidFill>
            <a:srgbClr val="E8F6EC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t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407408" y="1143000"/>
            <a:ext cx="64008" cy="4526280"/>
          </a:xfrm>
          <a:prstGeom prst="rect">
            <a:avLst/>
          </a:prstGeom>
          <a:solidFill>
            <a:srgbClr val="2D91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t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608576" y="1261872"/>
            <a:ext cx="3017520" cy="347472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>
              <a:defRPr sz="1500" b="1">
                <a:solidFill>
                  <a:srgbClr val="141F30"/>
                </a:solidFill>
                <a:latin typeface="Aptos"/>
              </a:defRPr>
            </a:pPr>
            <a:r>
              <a:rPr/>
              <a:t>We will implement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08576" y="1664207"/>
            <a:ext cx="3017520" cy="38862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>
              <a:defRPr sz="1500">
                <a:solidFill>
                  <a:srgbClr val="1E1E1E"/>
                </a:solidFill>
                <a:latin typeface="Aptos"/>
              </a:defRPr>
            </a:pPr>
            <a:r>
              <a:rPr/>
              <a:t>Curriculum Manager</a:t>
            </a:r>
            <a:r>
              <a:t/>
            </a:r>
            <a:br/>
            <a:r>
              <a:t/>
            </a:r>
            <a:br/>
            <a:r>
              <a:rPr/>
              <a:t>Performance-based readiness rule</a:t>
            </a:r>
            <a:r>
              <a:t/>
            </a:r>
            <a:br/>
            <a:r>
              <a:t/>
            </a:r>
            <a:br/>
            <a:r>
              <a:rPr/>
              <a:t>Adaptive progression between difficulty levels</a:t>
            </a:r>
            <a:r>
              <a:t/>
            </a:r>
            <a:br/>
            <a:r>
              <a:t/>
            </a:r>
            <a:br/>
            <a:r>
              <a:rPr/>
              <a:t>Experiment logging</a:t>
            </a:r>
            <a:r>
              <a:t/>
            </a:r>
            <a:br/>
            <a:r>
              <a:t/>
            </a:r>
            <a:br/>
            <a:r>
              <a:rPr/>
              <a:t>Comparison: direct vs fixed vs adaptive</a:t>
            </a:r>
            <a:r>
              <a:t/>
            </a:r>
            <a:br/>
            <a:r>
              <a:t/>
            </a:r>
            <a:br/>
            <a:r>
              <a:rPr/>
              <a:t>Analysis and visualizations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74736" y="1143000"/>
            <a:ext cx="3337560" cy="4526280"/>
          </a:xfrm>
          <a:prstGeom prst="roundRect">
            <a:avLst/>
          </a:prstGeom>
          <a:solidFill>
            <a:srgbClr val="FCF0E2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t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174736" y="1143000"/>
            <a:ext cx="64008" cy="4526280"/>
          </a:xfrm>
          <a:prstGeom prst="rect">
            <a:avLst/>
          </a:prstGeom>
          <a:solidFill>
            <a:srgbClr val="E08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t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375904" y="1261872"/>
            <a:ext cx="2971800" cy="347472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>
              <a:defRPr sz="1500" b="1">
                <a:solidFill>
                  <a:srgbClr val="141F30"/>
                </a:solidFill>
                <a:latin typeface="Aptos"/>
              </a:defRPr>
            </a:pPr>
            <a:r>
              <a:rPr/>
              <a:t>What we must prove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75904" y="1664207"/>
            <a:ext cx="2971800" cy="38862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>
              <a:defRPr sz="1400">
                <a:solidFill>
                  <a:srgbClr val="1E1E1E"/>
                </a:solidFill>
                <a:latin typeface="Aptos"/>
              </a:defRPr>
            </a:pPr>
            <a:r>
              <a:rPr/>
              <a:t>Does adaptive progression reduce training effort?</a:t>
            </a:r>
            <a:r>
              <a:t/>
            </a:r>
            <a:br/>
            <a:r>
              <a:t/>
            </a:r>
            <a:br/>
            <a:r>
              <a:rPr/>
              <a:t>Does it reach difficult tasks more reliably?</a:t>
            </a:r>
            <a:r>
              <a:t/>
            </a:r>
            <a:br/>
            <a:r>
              <a:t/>
            </a:r>
            <a:br/>
            <a:r>
              <a:rPr/>
              <a:t>Does it maintain or improve final performance?</a:t>
            </a:r>
            <a:r>
              <a:t/>
            </a:r>
            <a:br/>
            <a:r>
              <a:t/>
            </a:r>
            <a:br/>
            <a:r>
              <a:rPr/>
              <a:t>Does it generalize to layouts not used for training?</a:t>
            </a:r>
            <a:r>
              <a:t/>
            </a:r>
            <a:br/>
            <a:r>
              <a:t/>
            </a:r>
            <a:br/>
            <a:r>
              <a:rPr/>
              <a:t>These results will determine whether our approach is useful.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" y="6419088"/>
            <a:ext cx="10972800" cy="18288"/>
          </a:xfrm>
          <a:prstGeom prst="rect">
            <a:avLst/>
          </a:prstGeom>
          <a:solidFill>
            <a:srgbClr val="DC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t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21792" y="6455664"/>
            <a:ext cx="10789920" cy="2286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>
              <a:defRPr sz="700">
                <a:solidFill>
                  <a:srgbClr val="5A6470"/>
                </a:solidFill>
                <a:latin typeface="Aptos"/>
              </a:defRPr>
            </a:pPr>
            <a:r>
              <a:rPr/>
              <a:t>This distinction avoids claiming that MiniGrid, PPO, or curriculum learning itself is new. Our project contribution is the specific adaptive strategy and its controlled evaluation.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F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487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652984" y="2725947"/>
            <a:ext cx="2885726" cy="7386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  <a:latin typeface="Aptos Display"/>
              </a:defRPr>
            </a:pPr>
            <a:r>
              <a:rPr dirty="0" smtClean="0"/>
              <a:t>Than</a:t>
            </a:r>
            <a:r>
              <a:rPr lang="en-US" dirty="0" smtClean="0"/>
              <a:t>k</a:t>
            </a:r>
            <a:r>
              <a:rPr dirty="0" smtClean="0"/>
              <a:t> </a:t>
            </a:r>
            <a:r>
              <a:rPr dirty="0"/>
              <a:t>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998</Words>
  <Application>Microsoft Office PowerPoint</Application>
  <PresentationFormat>Widescreen</PresentationFormat>
  <Paragraphs>112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Aptos</vt:lpstr>
      <vt:lpstr>Aptos Display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BHAVANA RAAVI</dc:creator>
  <cp:keywords/>
  <dc:description>generated using python-pptx</dc:description>
  <cp:lastModifiedBy>BHAVANA RAAVI</cp:lastModifiedBy>
  <cp:revision>2</cp:revision>
  <dcterms:created xsi:type="dcterms:W3CDTF">2013-01-27T09:14:16Z</dcterms:created>
  <dcterms:modified xsi:type="dcterms:W3CDTF">2026-09-11T00:28:48Z</dcterms:modified>
  <cp:category/>
</cp:coreProperties>
</file>